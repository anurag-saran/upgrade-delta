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58" r:id="rId8"/>
  </p:sldIdLst>
  <p:sldSz cy="6858000" cx="12188950"/>
  <p:notesSz cx="6858000" cy="9144000"/>
  <p:embeddedFontLst>
    <p:embeddedFont>
      <p:font typeface="Red Hat Text Medium"/>
      <p:regular r:id="rId9"/>
      <p:bold r:id="rId10"/>
      <p:italic r:id="rId11"/>
      <p:boldItalic r:id="rId12"/>
    </p:embeddedFont>
    <p:embeddedFont>
      <p:font typeface="Red Hat Display Medium"/>
      <p:regular r:id="rId13"/>
      <p:bold r:id="rId14"/>
      <p:italic r:id="rId15"/>
      <p:boldItalic r:id="rId16"/>
    </p:embeddedFont>
    <p:embeddedFont>
      <p:font typeface="Red Hat Display"/>
      <p:regular r:id="rId17"/>
      <p:bold r:id="rId18"/>
      <p:italic r:id="rId19"/>
      <p:boldItalic r:id="rId20"/>
    </p:embeddedFont>
    <p:embeddedFont>
      <p:font typeface="Overpass SemiBold"/>
      <p:regular r:id="rId21"/>
      <p:bold r:id="rId22"/>
      <p:italic r:id="rId23"/>
      <p:boldItalic r:id="rId24"/>
    </p:embeddedFont>
    <p:embeddedFont>
      <p:font typeface="Red Hat Tex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383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39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font" Target="fonts/RedHatTextMedium-regular.fntdata"/><Relationship Id="rId10" Type="http://schemas.openxmlformats.org/officeDocument/2006/relationships/font" Target="fonts/RedHatTextMedium-bold.fntdata"/><Relationship Id="rId11" Type="http://schemas.openxmlformats.org/officeDocument/2006/relationships/font" Target="fonts/RedHatTextMedium-italic.fntdata"/><Relationship Id="rId12" Type="http://schemas.openxmlformats.org/officeDocument/2006/relationships/font" Target="fonts/RedHatTextMedium-boldItalic.fntdata"/><Relationship Id="rId13" Type="http://schemas.openxmlformats.org/officeDocument/2006/relationships/font" Target="fonts/RedHatDisplayMedium-regular.fntdata"/><Relationship Id="rId14" Type="http://schemas.openxmlformats.org/officeDocument/2006/relationships/font" Target="fonts/RedHatDisplayMedium-bold.fntdata"/><Relationship Id="rId15" Type="http://schemas.openxmlformats.org/officeDocument/2006/relationships/font" Target="fonts/RedHatDisplayMedium-italic.fntdata"/><Relationship Id="rId16" Type="http://schemas.openxmlformats.org/officeDocument/2006/relationships/font" Target="fonts/RedHatDisplayMedium-boldItalic.fntdata"/><Relationship Id="rId17" Type="http://schemas.openxmlformats.org/officeDocument/2006/relationships/font" Target="fonts/RedHatDisplay-regular.fntdata"/><Relationship Id="rId18" Type="http://schemas.openxmlformats.org/officeDocument/2006/relationships/font" Target="fonts/RedHatDisplay-bold.fntdata"/><Relationship Id="rId19" Type="http://schemas.openxmlformats.org/officeDocument/2006/relationships/font" Target="fonts/RedHatDisplay-italic.fntdata"/><Relationship Id="rId20" Type="http://schemas.openxmlformats.org/officeDocument/2006/relationships/font" Target="fonts/RedHatDisplay-boldItalic.fntdata"/><Relationship Id="rId21" Type="http://schemas.openxmlformats.org/officeDocument/2006/relationships/font" Target="fonts/OverpassSemiBold-regular.fntdata"/><Relationship Id="rId22" Type="http://schemas.openxmlformats.org/officeDocument/2006/relationships/font" Target="fonts/OverpassSemiBold-bold.fntdata"/><Relationship Id="rId23" Type="http://schemas.openxmlformats.org/officeDocument/2006/relationships/font" Target="fonts/OverpassSemiBold-italic.fntdata"/><Relationship Id="rId24" Type="http://schemas.openxmlformats.org/officeDocument/2006/relationships/font" Target="fonts/OverpassSemiBold-boldItalic.fntdata"/><Relationship Id="rId25" Type="http://schemas.openxmlformats.org/officeDocument/2006/relationships/font" Target="fonts/RedHatText-regular.fntdata"/><Relationship Id="rId26" Type="http://schemas.openxmlformats.org/officeDocument/2006/relationships/font" Target="fonts/RedHatText-bold.fntdata"/><Relationship Id="rId27" Type="http://schemas.openxmlformats.org/officeDocument/2006/relationships/font" Target="fonts/RedHatText-italic.fntdata"/><Relationship Id="rId28" Type="http://schemas.openxmlformats.org/officeDocument/2006/relationships/font" Target="fonts/RedHatText-boldItalic.fntdata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cad53dcf2a_0_366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cad53dcf2a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b6e62da0cb_10_0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b6e62da0cb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cad53dcf2a_0_375:notes"/>
          <p:cNvSpPr/>
          <p:nvPr>
            <p:ph idx="2" type="sldImg"/>
          </p:nvPr>
        </p:nvSpPr>
        <p:spPr>
          <a:xfrm>
            <a:off x="382063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cad53dcf2a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reframe: the rebuild is cheap; the regression run and the approval are where the six weeks live. No tool on the market prices that.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Commercial heart. LEFT is the community forward-upgrade problem on Jackson (real, heavy library). RIGHT is Lightwell's actual rebuild of the SAME base version 2.13.4 -&gt; 2.13.4.redhat-00001 (a library Lightwell genuinely services). Fill the right-card grade and churn from your run of 'lightwell-report.sh com.fasterxml.jackson.core jackson-databind 2.13.4 2.13.4.redhat-00001'. These are the MEASURED numbers from the real Lightwell rebuild: grade B, 0.3% churn, 0 incompatible changes across 708 classes — jackson-databind is the most annotation-heavy library in common use, and the churn fingerprint handled it cleanly.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Emphasize the publisher/consumer split — for regulated customers 'your code never leaves' is the entry ticket, not a feature.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churn beat exists for the most skeptical engineer in the room: hash two identical builds and watch a naive tool report 100%. Ours reports zero — live.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sentence per tier is the CAB requirement — rules, not ML, because 'the model scored it 0.83' is not an audit answer.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CAB reads the top third and signs; the engineer reads the middle and knows Monday's tasks. One page, two audiences.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relocated-copy hazard reliably wins the room's lead engineers — most teams have never seen their shaded duplicates listed.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“Seven of eleven, with a reason for each” turns a shortcut into a CAB artifact. The mandatory test is declared in test source and resolved at run time — it cannot silently vanish.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cut this beat in the live demo either: tools in this category die the first time they're caught silently wrong. Every failure here is demonstrated live, on purpose.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Production path is Sigstore keyless in CI; local Ed25519 keys exist for air-gapped shops — the same customers this whole design serves.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Concede gracefully where Endor genuinely fits better (CVE-driven prioritization, one pane of glass). The candor buys more than the point costs.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on the ask, not the demo. The validation calls were the recommendation from day one — the pipeline now exists to make those conversations concrete.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7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9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236275" y="3521800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2236275" y="46142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subTitle"/>
          </p:nvPr>
        </p:nvSpPr>
        <p:spPr>
          <a:xfrm>
            <a:off x="4624250" y="46142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 sz="14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2236275" y="1743600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" name="Google Shape;20;p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" name="Google Shape;21;p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3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2672" y="3470249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42672" y="2778374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42674" y="2086500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42672" y="4162124"/>
            <a:ext cx="282625" cy="2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ed Hat Display Medium"/>
              <a:buNone/>
              <a:defRPr sz="4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Red Hat Display Medium"/>
              <a:buNone/>
              <a:defRPr sz="48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208387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8" name="Google Shape;3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>
            <p:ph idx="1" type="subTitle"/>
          </p:nvPr>
        </p:nvSpPr>
        <p:spPr>
          <a:xfrm>
            <a:off x="2236275" y="3521800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2" type="subTitle"/>
          </p:nvPr>
        </p:nvSpPr>
        <p:spPr>
          <a:xfrm>
            <a:off x="2236275" y="46142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3" type="subTitle"/>
          </p:nvPr>
        </p:nvSpPr>
        <p:spPr>
          <a:xfrm>
            <a:off x="4624250" y="46142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type="title"/>
          </p:nvPr>
        </p:nvSpPr>
        <p:spPr>
          <a:xfrm>
            <a:off x="2236275" y="1743600"/>
            <a:ext cx="75333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TITLE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7576850" y="4187175"/>
            <a:ext cx="222300" cy="23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7578450" y="2112750"/>
            <a:ext cx="210900" cy="22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" name="Google Shape;48;p5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9" name="Google Shape;4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" name="Google Shape;50;p5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" name="Google Shape;51;p5"/>
          <p:cNvSpPr txBox="1"/>
          <p:nvPr/>
        </p:nvSpPr>
        <p:spPr>
          <a:xfrm>
            <a:off x="7960472" y="19998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7960472" y="26916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7960472" y="338352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7960472" y="4075375"/>
            <a:ext cx="29934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5"/>
          <p:cNvSpPr txBox="1"/>
          <p:nvPr>
            <p:ph type="title"/>
          </p:nvPr>
        </p:nvSpPr>
        <p:spPr>
          <a:xfrm>
            <a:off x="2083875" y="568625"/>
            <a:ext cx="4905000" cy="1985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Red Hat Display Medium"/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1" type="subTitle"/>
          </p:nvPr>
        </p:nvSpPr>
        <p:spPr>
          <a:xfrm>
            <a:off x="2083875" y="3008425"/>
            <a:ext cx="41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pic>
        <p:nvPicPr>
          <p:cNvPr id="57" name="Google Shape;57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2674" y="4162126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2674" y="3470251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2674" y="2778376"/>
            <a:ext cx="282625" cy="28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42673" y="2086501"/>
            <a:ext cx="282625" cy="28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">
  <p:cSld name="TITLE_1_2_2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6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" name="Google Shape;64;p6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" name="Google Shape;66;p6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chemeClr val="lt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67" name="Google Shape;6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 txBox="1"/>
          <p:nvPr>
            <p:ph type="title"/>
          </p:nvPr>
        </p:nvSpPr>
        <p:spPr>
          <a:xfrm>
            <a:off x="5660525" y="1709025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TITLE_1_2_2_1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7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4" name="Google Shape;74;p7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5" name="Google Shape;75;p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7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chemeClr val="lt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77" name="Google Shape;7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7"/>
          <p:cNvSpPr txBox="1"/>
          <p:nvPr>
            <p:ph type="title"/>
          </p:nvPr>
        </p:nvSpPr>
        <p:spPr>
          <a:xfrm>
            <a:off x="5660525" y="568625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80" name="Google Shape;80;p7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2" name="Google Shape;82;p7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</a:t>
            </a:r>
            <a:endParaRPr sz="1200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</a:t>
            </a: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.com/RedHat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84" name="Google Shape;8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image">
  <p:cSld name="TITLE_1_2_2_1_1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0" name="Google Shape;90;p8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1" name="Google Shape;91;p8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8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94" name="Google Shape;9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/>
          <p:cNvSpPr txBox="1"/>
          <p:nvPr>
            <p:ph type="title"/>
          </p:nvPr>
        </p:nvSpPr>
        <p:spPr>
          <a:xfrm>
            <a:off x="5660525" y="1709025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6" name="Google Shape;96;p8"/>
          <p:cNvSpPr txBox="1"/>
          <p:nvPr>
            <p:ph idx="2" type="subTitle"/>
          </p:nvPr>
        </p:nvSpPr>
        <p:spPr>
          <a:xfrm>
            <a:off x="5660525" y="3971650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97" name="Google Shape;97;p8"/>
          <p:cNvSpPr txBox="1"/>
          <p:nvPr>
            <p:ph idx="3" type="subTitle"/>
          </p:nvPr>
        </p:nvSpPr>
        <p:spPr>
          <a:xfrm>
            <a:off x="5660525" y="5318275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image">
  <p:cSld name="TITLE_1_2_2_1_1_2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1" name="Google Shape;101;p9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" name="Google Shape;102;p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9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04" name="Google Shape;10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9"/>
          <p:cNvSpPr txBox="1"/>
          <p:nvPr>
            <p:ph type="title"/>
          </p:nvPr>
        </p:nvSpPr>
        <p:spPr>
          <a:xfrm>
            <a:off x="5660525" y="568625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Font typeface="Red Hat Display Medium"/>
              <a:buNone/>
              <a:defRPr sz="4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6" name="Google Shape;106;p9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107" name="Google Shape;107;p9"/>
          <p:cNvSpPr txBox="1"/>
          <p:nvPr/>
        </p:nvSpPr>
        <p:spPr>
          <a:xfrm>
            <a:off x="5903450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9"/>
          <p:cNvSpPr txBox="1"/>
          <p:nvPr/>
        </p:nvSpPr>
        <p:spPr>
          <a:xfrm>
            <a:off x="5903450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youtube.com/@redhat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9"/>
          <p:cNvSpPr txBox="1"/>
          <p:nvPr/>
        </p:nvSpPr>
        <p:spPr>
          <a:xfrm>
            <a:off x="8815525" y="46692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</a:t>
            </a:r>
            <a:endParaRPr sz="1200">
              <a:solidFill>
                <a:srgbClr val="151515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10" name="Google Shape;110;p9"/>
          <p:cNvSpPr txBox="1"/>
          <p:nvPr/>
        </p:nvSpPr>
        <p:spPr>
          <a:xfrm>
            <a:off x="8815525" y="5174300"/>
            <a:ext cx="25605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x.com/RedHat</a:t>
            </a:r>
            <a:endParaRPr sz="1200">
              <a:solidFill>
                <a:srgbClr val="15151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1" name="Google Shape;11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86459" y="51803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86459" y="4675243"/>
            <a:ext cx="229074" cy="22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0534" y="5180343"/>
            <a:ext cx="229075" cy="2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0534" y="4675243"/>
            <a:ext cx="229075" cy="2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ebinar title slide">
  <p:cSld name="TITLE_1_2_2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/>
          <p:nvPr/>
        </p:nvSpPr>
        <p:spPr>
          <a:xfrm>
            <a:off x="8877225" y="5878875"/>
            <a:ext cx="3314700" cy="9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1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" name="Google Shape;118;p10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19" name="Google Shape;11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106850" y="6164023"/>
            <a:ext cx="1580275" cy="372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762000"/>
            <a:ext cx="2145944" cy="5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 txBox="1"/>
          <p:nvPr>
            <p:ph type="title"/>
          </p:nvPr>
        </p:nvSpPr>
        <p:spPr>
          <a:xfrm>
            <a:off x="1169475" y="2658025"/>
            <a:ext cx="9871800" cy="1600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Red Hat Display Medium"/>
              <a:buNone/>
              <a:defRPr sz="80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2" name="Google Shape;122;p10"/>
          <p:cNvSpPr txBox="1"/>
          <p:nvPr>
            <p:ph idx="1" type="subTitle"/>
          </p:nvPr>
        </p:nvSpPr>
        <p:spPr>
          <a:xfrm>
            <a:off x="1169325" y="4436225"/>
            <a:ext cx="7533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23" name="Google Shape;123;p10"/>
          <p:cNvSpPr txBox="1"/>
          <p:nvPr>
            <p:ph idx="2" type="subTitle"/>
          </p:nvPr>
        </p:nvSpPr>
        <p:spPr>
          <a:xfrm>
            <a:off x="1169200" y="54547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4" name="Google Shape;124;p10"/>
          <p:cNvSpPr txBox="1"/>
          <p:nvPr>
            <p:ph idx="3" type="subTitle"/>
          </p:nvPr>
        </p:nvSpPr>
        <p:spPr>
          <a:xfrm>
            <a:off x="3557450" y="5454700"/>
            <a:ext cx="20403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400"/>
              <a:buFont typeface="Red Hat Display Medium"/>
              <a:buNone/>
              <a:defRPr sz="14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/>
          <p:nvPr>
            <p:ph type="title"/>
          </p:nvPr>
        </p:nvSpPr>
        <p:spPr>
          <a:xfrm>
            <a:off x="447775" y="1084550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27" name="Google Shape;127;p11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28" name="Google Shape;128;p1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31" name="Google Shape;13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1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out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5" name="Google Shape;135;p1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38" name="Google Shape;13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2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"/>
          <p:cNvSpPr txBox="1"/>
          <p:nvPr>
            <p:ph type="title"/>
          </p:nvPr>
        </p:nvSpPr>
        <p:spPr>
          <a:xfrm>
            <a:off x="447775" y="1084550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3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143" name="Google Shape;143;p1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chemeClr val="lt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46" name="Google Shape;14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3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 and subhead">
  <p:cSld name="CUSTOM_1_1_1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0" name="Google Shape;150;p14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51" name="Google Shape;151;p1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1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chemeClr val="lt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53" name="Google Shape;15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14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14"/>
          <p:cNvSpPr txBox="1"/>
          <p:nvPr>
            <p:ph type="title"/>
          </p:nvPr>
        </p:nvSpPr>
        <p:spPr>
          <a:xfrm>
            <a:off x="2076025" y="1883250"/>
            <a:ext cx="7992000" cy="26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56" name="Google Shape;156;p14"/>
          <p:cNvSpPr txBox="1"/>
          <p:nvPr>
            <p:ph idx="2" type="subTitle"/>
          </p:nvPr>
        </p:nvSpPr>
        <p:spPr>
          <a:xfrm>
            <a:off x="2076025" y="4711600"/>
            <a:ext cx="7992000" cy="4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type="title"/>
          </p:nvPr>
        </p:nvSpPr>
        <p:spPr>
          <a:xfrm>
            <a:off x="447775" y="1084550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59" name="Google Shape;159;p15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160" name="Google Shape;160;p1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15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63" name="Google Shape;16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out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167" name="Google Shape;167;p1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16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70" name="Google Shape;1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>
            <p:ph type="title"/>
          </p:nvPr>
        </p:nvSpPr>
        <p:spPr>
          <a:xfrm>
            <a:off x="447775" y="1084550"/>
            <a:ext cx="6825000" cy="2105100"/>
          </a:xfrm>
          <a:prstGeom prst="rect">
            <a:avLst/>
          </a:prstGeom>
        </p:spPr>
        <p:txBody>
          <a:bodyPr anchorCtr="0" anchor="t" bIns="91425" lIns="4389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74" name="Google Shape;174;p17"/>
          <p:cNvSpPr txBox="1"/>
          <p:nvPr>
            <p:ph idx="1" type="subTitle"/>
          </p:nvPr>
        </p:nvSpPr>
        <p:spPr>
          <a:xfrm>
            <a:off x="9480050" y="1743725"/>
            <a:ext cx="2124300" cy="33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175" name="Google Shape;175;p1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17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78" name="Google Shape;1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 and subhead">
  <p:cSld name="CUSTOM_1_1_1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/>
          <p:nvPr/>
        </p:nvSpPr>
        <p:spPr>
          <a:xfrm>
            <a:off x="-50" y="0"/>
            <a:ext cx="882000" cy="68580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2" name="Google Shape;182;p18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000"/>
              <a:buFont typeface="Red Hat Display Medium"/>
              <a:buNone/>
              <a:defRPr sz="1000">
                <a:solidFill>
                  <a:srgbClr val="15151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83" name="Google Shape;183;p1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18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85" name="Google Shape;185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18"/>
          <p:cNvCxnSpPr/>
          <p:nvPr/>
        </p:nvCxnSpPr>
        <p:spPr>
          <a:xfrm>
            <a:off x="2076025" y="1653700"/>
            <a:ext cx="13908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 txBox="1"/>
          <p:nvPr>
            <p:ph type="title"/>
          </p:nvPr>
        </p:nvSpPr>
        <p:spPr>
          <a:xfrm>
            <a:off x="2076025" y="1883250"/>
            <a:ext cx="7992000" cy="26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2" type="subTitle"/>
          </p:nvPr>
        </p:nvSpPr>
        <p:spPr>
          <a:xfrm>
            <a:off x="2076025" y="4711600"/>
            <a:ext cx="7992000" cy="4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2400"/>
              <a:buNone/>
              <a:defRPr sz="24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1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19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92" name="Google Shape;1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94" name="Google Shape;194;p19"/>
          <p:cNvSpPr txBox="1"/>
          <p:nvPr>
            <p:ph idx="1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95" name="Google Shape;195;p1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1_1_1_1_1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0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199" name="Google Shape;1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>
            <p:ph type="title"/>
          </p:nvPr>
        </p:nvSpPr>
        <p:spPr>
          <a:xfrm>
            <a:off x="2076025" y="1883250"/>
            <a:ext cx="7992000" cy="307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1" name="Google Shape;201;p20"/>
          <p:cNvSpPr txBox="1"/>
          <p:nvPr>
            <p:ph idx="1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02" name="Google Shape;202;p2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with title">
  <p:cSld name="CUSTOM_1_1_1_1_1_1_1_2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" name="Google Shape;204;p2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2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21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5400"/>
              <a:buNone/>
              <a:defRPr sz="5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09" name="Google Shape;209;p21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10" name="Google Shape;210;p21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">
  <p:cSld name="CUSTOM_1_1_1_1_1_1_1_2_1_1">
    <p:bg>
      <p:bgPr>
        <a:noFill/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2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" name="Google Shape;213;p2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14" name="Google Shape;21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2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2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17" name="Google Shape;217;p22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18" name="Google Shape;218;p22"/>
          <p:cNvSpPr txBox="1"/>
          <p:nvPr>
            <p:ph idx="2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19" name="Google Shape;219;p22"/>
          <p:cNvSpPr txBox="1"/>
          <p:nvPr>
            <p:ph idx="3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20" name="Google Shape;220;p22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">
  <p:cSld name="CUSTOM_1_1_1_1_1_1_1_2_1_1_2">
    <p:bg>
      <p:bgPr>
        <a:solidFill>
          <a:srgbClr val="1B0D3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2" name="Google Shape;222;p2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2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chemeClr val="lt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24" name="Google Shape;224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2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3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23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8" name="Google Shape;228;p23"/>
          <p:cNvSpPr txBox="1"/>
          <p:nvPr>
            <p:ph idx="2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29" name="Google Shape;229;p23"/>
          <p:cNvSpPr txBox="1"/>
          <p:nvPr>
            <p:ph idx="3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30" name="Google Shape;230;p23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">
  <p:cSld name="CUSTOM_1_1_1_1_1_1_1_2_1_1_2_1">
    <p:bg>
      <p:bgPr>
        <a:solidFill>
          <a:srgbClr val="FEF0F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Google Shape;232;p2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2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24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38" name="Google Shape;238;p24"/>
          <p:cNvSpPr txBox="1"/>
          <p:nvPr>
            <p:ph idx="2" type="body"/>
          </p:nvPr>
        </p:nvSpPr>
        <p:spPr>
          <a:xfrm>
            <a:off x="86699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39" name="Google Shape;239;p24"/>
          <p:cNvSpPr txBox="1"/>
          <p:nvPr>
            <p:ph idx="3" type="body"/>
          </p:nvPr>
        </p:nvSpPr>
        <p:spPr>
          <a:xfrm>
            <a:off x="5708700" y="1849475"/>
            <a:ext cx="2131800" cy="300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40" name="Google Shape;240;p24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1_1_1_1_1_1_1_2_1_1_1">
    <p:bg>
      <p:bgPr>
        <a:noFill/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2" name="Google Shape;242;p2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25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44" name="Google Shape;24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5" name="Google Shape;245;p2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p25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2" type="body"/>
          </p:nvPr>
        </p:nvSpPr>
        <p:spPr>
          <a:xfrm>
            <a:off x="5942950" y="1858175"/>
            <a:ext cx="4575300" cy="29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Char char="●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Char char="○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151515"/>
              </a:buClr>
              <a:buSzPts val="1800"/>
              <a:buFont typeface="Red Hat Display"/>
              <a:buChar char="■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1_1_1_1_1_1_1_2_1_1_1_1">
    <p:bg>
      <p:bgPr>
        <a:solidFill>
          <a:srgbClr val="1B0D33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" name="Google Shape;251;p2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6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chemeClr val="lt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53" name="Google Shape;25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p2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26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2" type="body"/>
          </p:nvPr>
        </p:nvSpPr>
        <p:spPr>
          <a:xfrm>
            <a:off x="5942950" y="1858175"/>
            <a:ext cx="4575300" cy="29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●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Char char="○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Font typeface="Red Hat Display"/>
              <a:buChar char="■"/>
              <a:defRPr sz="18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1_1_1_1_1_1_1_2_1_1_1_1_1">
    <p:bg>
      <p:bgPr>
        <a:solidFill>
          <a:srgbClr val="FEF0F0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" name="Google Shape;260;p2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27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62" name="Google Shape;26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" name="Google Shape;263;p2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27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type="title"/>
          </p:nvPr>
        </p:nvSpPr>
        <p:spPr>
          <a:xfrm>
            <a:off x="900275" y="1736425"/>
            <a:ext cx="3885900" cy="26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4800"/>
              <a:buNone/>
              <a:defRPr sz="4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2" type="body"/>
          </p:nvPr>
        </p:nvSpPr>
        <p:spPr>
          <a:xfrm>
            <a:off x="5942950" y="1858175"/>
            <a:ext cx="4575300" cy="298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●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Char char="○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Font typeface="Red Hat Display"/>
              <a:buChar char="■"/>
              <a:defRPr sz="1800">
                <a:solidFill>
                  <a:srgbClr val="151515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-width image">
  <p:cSld name="CUSTOM_1_1_1_1_1_1_1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9" name="Google Shape;269;p2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8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71" name="Google Shape;271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28"/>
          <p:cNvCxnSpPr/>
          <p:nvPr/>
        </p:nvCxnSpPr>
        <p:spPr>
          <a:xfrm rot="10800000">
            <a:off x="447775" y="50"/>
            <a:ext cx="0" cy="22827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1_1_1_1_1_1_1_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4" name="Google Shape;274;p2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29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76" name="Google Shape;27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29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81" name="Google Shape;281;p29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1_1_1_1_1_1_1_1_1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EF0F0"/>
              </a:solidFill>
            </a:endParaRPr>
          </a:p>
        </p:txBody>
      </p:sp>
      <p:cxnSp>
        <p:nvCxnSpPr>
          <p:cNvPr id="284" name="Google Shape;284;p3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0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286" name="Google Shape;28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7" name="Google Shape;287;p3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30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9" name="Google Shape;289;p30"/>
          <p:cNvSpPr txBox="1"/>
          <p:nvPr>
            <p:ph idx="1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290" name="Google Shape;290;p30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0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0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0"/>
          <p:cNvSpPr txBox="1"/>
          <p:nvPr>
            <p:ph idx="2" type="subTitle"/>
          </p:nvPr>
        </p:nvSpPr>
        <p:spPr>
          <a:xfrm>
            <a:off x="0" y="2473650"/>
            <a:ext cx="3811500" cy="2702400"/>
          </a:xfrm>
          <a:prstGeom prst="rect">
            <a:avLst/>
          </a:prstGeom>
          <a:noFill/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p30"/>
          <p:cNvSpPr txBox="1"/>
          <p:nvPr>
            <p:ph idx="3" type="subTitle"/>
          </p:nvPr>
        </p:nvSpPr>
        <p:spPr>
          <a:xfrm>
            <a:off x="423660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30"/>
          <p:cNvSpPr txBox="1"/>
          <p:nvPr>
            <p:ph idx="4" type="subTitle"/>
          </p:nvPr>
        </p:nvSpPr>
        <p:spPr>
          <a:xfrm>
            <a:off x="818400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30"/>
          <p:cNvSpPr txBox="1"/>
          <p:nvPr>
            <p:ph idx="5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298" name="Google Shape;298;p30"/>
          <p:cNvSpPr txBox="1"/>
          <p:nvPr>
            <p:ph idx="6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1_1_1_1_1_1_1_1_1_1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1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1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1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1B0D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4" name="Google Shape;304;p3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3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06" name="Google Shape;30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7" name="Google Shape;307;p3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31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9" name="Google Shape;309;p31"/>
          <p:cNvSpPr txBox="1"/>
          <p:nvPr>
            <p:ph idx="1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10" name="Google Shape;310;p31"/>
          <p:cNvSpPr txBox="1"/>
          <p:nvPr>
            <p:ph idx="2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11" name="Google Shape;311;p31"/>
          <p:cNvSpPr txBox="1"/>
          <p:nvPr>
            <p:ph idx="3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31"/>
          <p:cNvSpPr txBox="1"/>
          <p:nvPr>
            <p:ph idx="4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31"/>
          <p:cNvSpPr txBox="1"/>
          <p:nvPr>
            <p:ph idx="5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1_1_1_1_1_1_1_1_1_1_2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2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EF0F0"/>
              </a:solidFill>
            </a:endParaRPr>
          </a:p>
        </p:txBody>
      </p:sp>
      <p:cxnSp>
        <p:nvCxnSpPr>
          <p:cNvPr id="316" name="Google Shape;316;p3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18" name="Google Shape;31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" name="Google Shape;319;p3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32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1" name="Google Shape;321;p32"/>
          <p:cNvSpPr txBox="1"/>
          <p:nvPr>
            <p:ph idx="1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22" name="Google Shape;322;p32"/>
          <p:cNvSpPr/>
          <p:nvPr/>
        </p:nvSpPr>
        <p:spPr>
          <a:xfrm>
            <a:off x="3901500" y="2473638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2"/>
          <p:cNvSpPr/>
          <p:nvPr/>
        </p:nvSpPr>
        <p:spPr>
          <a:xfrm>
            <a:off x="780300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2"/>
          <p:cNvSpPr/>
          <p:nvPr/>
        </p:nvSpPr>
        <p:spPr>
          <a:xfrm>
            <a:off x="0" y="2473650"/>
            <a:ext cx="4389000" cy="2702400"/>
          </a:xfrm>
          <a:prstGeom prst="chevron">
            <a:avLst>
              <a:gd fmla="val 27319" name="adj"/>
            </a:avLst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2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2"/>
          <p:cNvSpPr txBox="1"/>
          <p:nvPr>
            <p:ph idx="2" type="subTitle"/>
          </p:nvPr>
        </p:nvSpPr>
        <p:spPr>
          <a:xfrm>
            <a:off x="0" y="2473650"/>
            <a:ext cx="3811500" cy="2702400"/>
          </a:xfrm>
          <a:prstGeom prst="rect">
            <a:avLst/>
          </a:prstGeom>
          <a:noFill/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27" name="Google Shape;327;p32"/>
          <p:cNvSpPr txBox="1"/>
          <p:nvPr>
            <p:ph idx="3" type="subTitle"/>
          </p:nvPr>
        </p:nvSpPr>
        <p:spPr>
          <a:xfrm>
            <a:off x="423660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28" name="Google Shape;328;p32"/>
          <p:cNvSpPr txBox="1"/>
          <p:nvPr>
            <p:ph idx="4" type="subTitle"/>
          </p:nvPr>
        </p:nvSpPr>
        <p:spPr>
          <a:xfrm>
            <a:off x="8184000" y="2473650"/>
            <a:ext cx="4389000" cy="2702400"/>
          </a:xfrm>
          <a:prstGeom prst="rect">
            <a:avLst/>
          </a:prstGeom>
        </p:spPr>
        <p:txBody>
          <a:bodyPr anchorCtr="0" anchor="ctr" bIns="0" lIns="868675" spcFirstLastPara="1" rIns="7315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29" name="Google Shape;329;p32"/>
          <p:cNvSpPr txBox="1"/>
          <p:nvPr>
            <p:ph idx="5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30" name="Google Shape;330;p32"/>
          <p:cNvSpPr txBox="1"/>
          <p:nvPr>
            <p:ph idx="6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1_1_1_1_1_1_1_1_1_1_1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/>
          <p:nvPr/>
        </p:nvSpPr>
        <p:spPr>
          <a:xfrm>
            <a:off x="0" y="2473638"/>
            <a:ext cx="1120500" cy="27024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3"/>
          <p:cNvSpPr/>
          <p:nvPr/>
        </p:nvSpPr>
        <p:spPr>
          <a:xfrm>
            <a:off x="11071500" y="2473638"/>
            <a:ext cx="1120500" cy="2702400"/>
          </a:xfrm>
          <a:prstGeom prst="rect">
            <a:avLst/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3"/>
          <p:cNvSpPr/>
          <p:nvPr/>
        </p:nvSpPr>
        <p:spPr>
          <a:xfrm>
            <a:off x="586380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3"/>
          <p:cNvSpPr/>
          <p:nvPr/>
        </p:nvSpPr>
        <p:spPr>
          <a:xfrm>
            <a:off x="0" y="2473650"/>
            <a:ext cx="6328200" cy="2702400"/>
          </a:xfrm>
          <a:prstGeom prst="chevron">
            <a:avLst>
              <a:gd fmla="val 27319" name="adj"/>
            </a:avLst>
          </a:prstGeom>
          <a:solidFill>
            <a:srgbClr val="FE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6" name="Google Shape;336;p3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" name="Google Shape;337;p3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38" name="Google Shape;338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9" name="Google Shape;339;p3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33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1" name="Google Shape;341;p33"/>
          <p:cNvSpPr txBox="1"/>
          <p:nvPr>
            <p:ph idx="1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42" name="Google Shape;342;p33"/>
          <p:cNvSpPr txBox="1"/>
          <p:nvPr>
            <p:ph idx="2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43" name="Google Shape;343;p33"/>
          <p:cNvSpPr txBox="1"/>
          <p:nvPr>
            <p:ph idx="3" type="subTitle"/>
          </p:nvPr>
        </p:nvSpPr>
        <p:spPr>
          <a:xfrm>
            <a:off x="663300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44" name="Google Shape;344;p33"/>
          <p:cNvSpPr txBox="1"/>
          <p:nvPr>
            <p:ph idx="4" type="subTitle"/>
          </p:nvPr>
        </p:nvSpPr>
        <p:spPr>
          <a:xfrm>
            <a:off x="0" y="2473650"/>
            <a:ext cx="6328200" cy="2702400"/>
          </a:xfrm>
          <a:prstGeom prst="rect">
            <a:avLst/>
          </a:prstGeom>
        </p:spPr>
        <p:txBody>
          <a:bodyPr anchorCtr="0" anchor="ctr" bIns="0" lIns="868675" spcFirstLastPara="1" rIns="914400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45" name="Google Shape;345;p33"/>
          <p:cNvSpPr txBox="1"/>
          <p:nvPr>
            <p:ph idx="5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1_1_1_1_1_1_1_1_1_1_1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7" name="Google Shape;347;p3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" name="Google Shape;348;p3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49" name="Google Shape;349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0" name="Google Shape;350;p3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34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52" name="Google Shape;352;p34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1_1_1_1_1_1_1_1_1_1_1_1_1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3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5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56" name="Google Shape;356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7" name="Google Shape;357;p3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35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0" name="Google Shape;360;p35"/>
          <p:cNvSpPr txBox="1"/>
          <p:nvPr>
            <p:ph idx="2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61" name="Google Shape;361;p35"/>
          <p:cNvSpPr txBox="1"/>
          <p:nvPr>
            <p:ph idx="3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362" name="Google Shape;362;p35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1_1_1_1_1_1_1_1_1_1_1_1_1_1_1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3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6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66" name="Google Shape;36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7" name="Google Shape;367;p3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36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69" name="Google Shape;369;p36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0" name="Google Shape;370;p36"/>
          <p:cNvSpPr txBox="1"/>
          <p:nvPr>
            <p:ph idx="2" type="body"/>
          </p:nvPr>
        </p:nvSpPr>
        <p:spPr>
          <a:xfrm>
            <a:off x="2438400" y="22860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1_1_1_1_1_1_1_1_1_1_1_1_1_1_1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" name="Google Shape;373;p3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" name="Google Shape;374;p37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75" name="Google Shape;375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6" name="Google Shape;376;p3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7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78" name="Google Shape;378;p37"/>
          <p:cNvSpPr txBox="1"/>
          <p:nvPr>
            <p:ph idx="2" type="body"/>
          </p:nvPr>
        </p:nvSpPr>
        <p:spPr>
          <a:xfrm>
            <a:off x="2438400" y="1600200"/>
            <a:ext cx="73152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379" name="Google Shape;379;p37"/>
          <p:cNvSpPr txBox="1"/>
          <p:nvPr>
            <p:ph idx="3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1_1_1_1_1_1_1_1_1_1_1_1_1_1_1_1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1" name="Google Shape;381;p3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" name="Google Shape;382;p38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83" name="Google Shape;38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4" name="Google Shape;384;p3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" name="Google Shape;385;p38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86" name="Google Shape;386;p38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387" name="Google Shape;387;p38"/>
          <p:cNvSpPr txBox="1"/>
          <p:nvPr>
            <p:ph idx="3" type="body"/>
          </p:nvPr>
        </p:nvSpPr>
        <p:spPr>
          <a:xfrm>
            <a:off x="885050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388" name="Google Shape;388;p38"/>
          <p:cNvSpPr txBox="1"/>
          <p:nvPr>
            <p:ph idx="4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389" name="Google Shape;389;p38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0" name="Google Shape;390;p38"/>
          <p:cNvSpPr txBox="1"/>
          <p:nvPr>
            <p:ph idx="5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column body">
  <p:cSld name="CUSTOM_1_1_1_1_1_1_1_1_1_1_1_1_1_1_1_1_1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2" name="Google Shape;392;p3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9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394" name="Google Shape;394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" name="Google Shape;395;p3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39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397" name="Google Shape;397;p39"/>
          <p:cNvSpPr txBox="1"/>
          <p:nvPr>
            <p:ph idx="2" type="body"/>
          </p:nvPr>
        </p:nvSpPr>
        <p:spPr>
          <a:xfrm>
            <a:off x="6369425" y="2291175"/>
            <a:ext cx="4937700" cy="3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398" name="Google Shape;398;p39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9" name="Google Shape;399;p39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00" name="Google Shape;400;p39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1_1_1_1_1_1_1_1_1_1_1_1_1_1_1_1_1_1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2" name="Google Shape;402;p4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" name="Google Shape;403;p40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04" name="Google Shape;40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5" name="Google Shape;405;p4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40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407" name="Google Shape;407;p40"/>
          <p:cNvCxnSpPr/>
          <p:nvPr/>
        </p:nvCxnSpPr>
        <p:spPr>
          <a:xfrm>
            <a:off x="4146414" y="-7350"/>
            <a:ext cx="0" cy="6872700"/>
          </a:xfrm>
          <a:prstGeom prst="straightConnector1">
            <a:avLst/>
          </a:prstGeom>
          <a:noFill/>
          <a:ln cap="flat" cmpd="sng" w="28575">
            <a:solidFill>
              <a:srgbClr val="1B0D3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40"/>
          <p:cNvSpPr txBox="1"/>
          <p:nvPr>
            <p:ph idx="2" type="subTitle"/>
          </p:nvPr>
        </p:nvSpPr>
        <p:spPr>
          <a:xfrm>
            <a:off x="3362500" y="1832875"/>
            <a:ext cx="6900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151515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151515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b="1" sz="1400">
                <a:solidFill>
                  <a:srgbClr val="151515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09" name="Google Shape;409;p40"/>
          <p:cNvSpPr txBox="1"/>
          <p:nvPr>
            <p:ph idx="3" type="subTitle"/>
          </p:nvPr>
        </p:nvSpPr>
        <p:spPr>
          <a:xfrm>
            <a:off x="4467775" y="1832875"/>
            <a:ext cx="5115600" cy="6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10" name="Google Shape;410;p40"/>
          <p:cNvSpPr txBox="1"/>
          <p:nvPr>
            <p:ph idx="4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1_1_1_1_1_1_1_1_1_1_1_1_1_1_1_1_1_1_1_1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" name="Google Shape;412;p4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4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14" name="Google Shape;414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5" name="Google Shape;415;p4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41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17" name="Google Shape;417;p41"/>
          <p:cNvSpPr txBox="1"/>
          <p:nvPr>
            <p:ph idx="2" type="subTitle"/>
          </p:nvPr>
        </p:nvSpPr>
        <p:spPr>
          <a:xfrm>
            <a:off x="3278900" y="3892375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18" name="Google Shape;418;p41"/>
          <p:cNvSpPr txBox="1"/>
          <p:nvPr>
            <p:ph idx="3" type="subTitle"/>
          </p:nvPr>
        </p:nvSpPr>
        <p:spPr>
          <a:xfrm>
            <a:off x="2042425" y="2461200"/>
            <a:ext cx="2106900" cy="1081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19" name="Google Shape;419;p41"/>
          <p:cNvSpPr txBox="1"/>
          <p:nvPr>
            <p:ph idx="4" type="subTitle"/>
          </p:nvPr>
        </p:nvSpPr>
        <p:spPr>
          <a:xfrm>
            <a:off x="1948585" y="4962670"/>
            <a:ext cx="2106900" cy="10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1pPr>
            <a:lvl2pPr lvl="1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2pPr>
            <a:lvl3pPr lvl="2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3pPr>
            <a:lvl4pPr lvl="3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4pPr>
            <a:lvl5pPr lvl="4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5pPr>
            <a:lvl6pPr lvl="5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6pPr>
            <a:lvl7pPr lvl="6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7pPr>
            <a:lvl8pPr lvl="7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>
                <a:solidFill>
                  <a:srgbClr val="151515"/>
                </a:solidFill>
              </a:defRPr>
            </a:lvl8pPr>
            <a:lvl9pPr lvl="8" algn="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  <a:defRPr sz="12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20" name="Google Shape;420;p41"/>
          <p:cNvSpPr txBox="1"/>
          <p:nvPr>
            <p:ph idx="5" type="subTitle"/>
          </p:nvPr>
        </p:nvSpPr>
        <p:spPr>
          <a:xfrm>
            <a:off x="1596475" y="4403575"/>
            <a:ext cx="975900" cy="234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400"/>
              <a:buNone/>
              <a:defRPr b="1" sz="14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21" name="Google Shape;421;p41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2" name="Google Shape;422;p41"/>
          <p:cNvSpPr txBox="1"/>
          <p:nvPr>
            <p:ph idx="6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23" name="Google Shape;423;p41"/>
          <p:cNvSpPr txBox="1"/>
          <p:nvPr>
            <p:ph idx="7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1_1_1_1_1_1_1_1_1_1_1_1_1_1_1_1_1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2"/>
          <p:cNvSpPr txBox="1"/>
          <p:nvPr>
            <p:ph idx="1" type="subTitle"/>
          </p:nvPr>
        </p:nvSpPr>
        <p:spPr>
          <a:xfrm>
            <a:off x="4466625" y="3689500"/>
            <a:ext cx="3255300" cy="13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26" name="Google Shape;426;p42"/>
          <p:cNvSpPr txBox="1"/>
          <p:nvPr>
            <p:ph idx="2" type="subTitle"/>
          </p:nvPr>
        </p:nvSpPr>
        <p:spPr>
          <a:xfrm>
            <a:off x="8038889" y="3689500"/>
            <a:ext cx="3255300" cy="13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27" name="Google Shape;427;p42"/>
          <p:cNvSpPr txBox="1"/>
          <p:nvPr>
            <p:ph idx="3" type="subTitle"/>
          </p:nvPr>
        </p:nvSpPr>
        <p:spPr>
          <a:xfrm>
            <a:off x="890375" y="3689500"/>
            <a:ext cx="3255300" cy="13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428" name="Google Shape;428;p4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9" name="Google Shape;429;p4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30" name="Google Shape;43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1" name="Google Shape;431;p4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42"/>
          <p:cNvSpPr txBox="1"/>
          <p:nvPr>
            <p:ph idx="4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33" name="Google Shape;433;p42"/>
          <p:cNvSpPr txBox="1"/>
          <p:nvPr>
            <p:ph idx="5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34" name="Google Shape;434;p42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5" name="Google Shape;435;p42"/>
          <p:cNvSpPr txBox="1"/>
          <p:nvPr>
            <p:ph idx="6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436" name="Google Shape;436;p42"/>
          <p:cNvCxnSpPr/>
          <p:nvPr/>
        </p:nvCxnSpPr>
        <p:spPr>
          <a:xfrm>
            <a:off x="43061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42"/>
          <p:cNvCxnSpPr/>
          <p:nvPr/>
        </p:nvCxnSpPr>
        <p:spPr>
          <a:xfrm>
            <a:off x="7885845" y="2661025"/>
            <a:ext cx="0" cy="2556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38" name="Google Shape;438;p42"/>
          <p:cNvSpPr txBox="1"/>
          <p:nvPr>
            <p:ph idx="7" type="subTitle"/>
          </p:nvPr>
        </p:nvSpPr>
        <p:spPr>
          <a:xfrm>
            <a:off x="100890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39" name="Google Shape;439;p42"/>
          <p:cNvSpPr txBox="1"/>
          <p:nvPr>
            <p:ph idx="8" type="subTitle"/>
          </p:nvPr>
        </p:nvSpPr>
        <p:spPr>
          <a:xfrm>
            <a:off x="45886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40" name="Google Shape;440;p42"/>
          <p:cNvSpPr txBox="1"/>
          <p:nvPr>
            <p:ph idx="9" type="subTitle"/>
          </p:nvPr>
        </p:nvSpPr>
        <p:spPr>
          <a:xfrm>
            <a:off x="8168350" y="2436425"/>
            <a:ext cx="30147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1_1_1_1_1_1_1_1_1_1_1_1_1_1_1_1_1_1_1_1_1_1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2" name="Google Shape;442;p4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4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44" name="Google Shape;444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5" name="Google Shape;445;p4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43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47" name="Google Shape;447;p43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48" name="Google Shape;448;p43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49" name="Google Shape;449;p43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50" name="Google Shape;450;p43"/>
          <p:cNvSpPr txBox="1"/>
          <p:nvPr>
            <p:ph idx="4" type="subTitle"/>
          </p:nvPr>
        </p:nvSpPr>
        <p:spPr>
          <a:xfrm>
            <a:off x="8046300" y="3689500"/>
            <a:ext cx="2946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cxnSp>
        <p:nvCxnSpPr>
          <p:cNvPr id="451" name="Google Shape;451;p43"/>
          <p:cNvCxnSpPr/>
          <p:nvPr/>
        </p:nvCxnSpPr>
        <p:spPr>
          <a:xfrm>
            <a:off x="7885850" y="3677350"/>
            <a:ext cx="0" cy="1404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2" name="Google Shape;452;p43"/>
          <p:cNvSpPr txBox="1"/>
          <p:nvPr>
            <p:ph idx="5" type="subTitle"/>
          </p:nvPr>
        </p:nvSpPr>
        <p:spPr>
          <a:xfrm>
            <a:off x="88675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53" name="Google Shape;453;p43"/>
          <p:cNvSpPr txBox="1"/>
          <p:nvPr>
            <p:ph idx="6" type="subTitle"/>
          </p:nvPr>
        </p:nvSpPr>
        <p:spPr>
          <a:xfrm>
            <a:off x="4623900" y="3689500"/>
            <a:ext cx="2946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54" name="Google Shape;454;p43"/>
          <p:cNvSpPr txBox="1"/>
          <p:nvPr>
            <p:ph idx="7" type="subTitle"/>
          </p:nvPr>
        </p:nvSpPr>
        <p:spPr>
          <a:xfrm>
            <a:off x="4623907" y="2436425"/>
            <a:ext cx="29463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55" name="Google Shape;455;p43"/>
          <p:cNvSpPr txBox="1"/>
          <p:nvPr>
            <p:ph idx="8" type="subTitle"/>
          </p:nvPr>
        </p:nvSpPr>
        <p:spPr>
          <a:xfrm>
            <a:off x="8046307" y="2436425"/>
            <a:ext cx="2946300" cy="124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EE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None/>
              <a:defRPr sz="8000">
                <a:solidFill>
                  <a:srgbClr val="EE000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1_1_1_1_1_1_1_1_1_1_1_1_1_1_1_1_1_1_1_1_1_1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7" name="Google Shape;457;p4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4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59" name="Google Shape;459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" name="Google Shape;460;p4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44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62" name="Google Shape;462;p44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63" name="Google Shape;463;p44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64" name="Google Shape;464;p44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65" name="Google Shape;465;p44"/>
          <p:cNvSpPr txBox="1"/>
          <p:nvPr>
            <p:ph idx="4" type="subTitle"/>
          </p:nvPr>
        </p:nvSpPr>
        <p:spPr>
          <a:xfrm>
            <a:off x="88675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466" name="Google Shape;466;p44"/>
          <p:cNvCxnSpPr/>
          <p:nvPr/>
        </p:nvCxnSpPr>
        <p:spPr>
          <a:xfrm>
            <a:off x="7885850" y="4439350"/>
            <a:ext cx="0" cy="1404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67" name="Google Shape;467;p44"/>
          <p:cNvSpPr txBox="1"/>
          <p:nvPr>
            <p:ph idx="5" type="subTitle"/>
          </p:nvPr>
        </p:nvSpPr>
        <p:spPr>
          <a:xfrm>
            <a:off x="4620750" y="4451650"/>
            <a:ext cx="29496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68" name="Google Shape;468;p44"/>
          <p:cNvSpPr txBox="1"/>
          <p:nvPr>
            <p:ph idx="6" type="subTitle"/>
          </p:nvPr>
        </p:nvSpPr>
        <p:spPr>
          <a:xfrm>
            <a:off x="8051175" y="4451650"/>
            <a:ext cx="29496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1_1_1_1_1_1_1_1_1_1_1_1_1_1_1_1_1_1_1_1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0" name="Google Shape;470;p45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45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72" name="Google Shape;472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3" name="Google Shape;473;p45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" name="Google Shape;474;p45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75" name="Google Shape;475;p45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76" name="Google Shape;476;p45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7" name="Google Shape;477;p45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78" name="Google Shape;478;p45"/>
          <p:cNvSpPr txBox="1"/>
          <p:nvPr>
            <p:ph idx="4" type="subTitle"/>
          </p:nvPr>
        </p:nvSpPr>
        <p:spPr>
          <a:xfrm>
            <a:off x="886750" y="2596700"/>
            <a:ext cx="3182700" cy="26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79" name="Google Shape;479;p45"/>
          <p:cNvSpPr txBox="1"/>
          <p:nvPr>
            <p:ph idx="5" type="subTitle"/>
          </p:nvPr>
        </p:nvSpPr>
        <p:spPr>
          <a:xfrm>
            <a:off x="9078250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80" name="Google Shape;480;p45"/>
          <p:cNvSpPr txBox="1"/>
          <p:nvPr>
            <p:ph idx="6" type="subTitle"/>
          </p:nvPr>
        </p:nvSpPr>
        <p:spPr>
          <a:xfrm>
            <a:off x="10284525" y="30484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81" name="Google Shape;481;p45"/>
          <p:cNvSpPr txBox="1"/>
          <p:nvPr>
            <p:ph idx="7" type="subTitle"/>
          </p:nvPr>
        </p:nvSpPr>
        <p:spPr>
          <a:xfrm>
            <a:off x="9078250" y="38416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82" name="Google Shape;482;p45"/>
          <p:cNvSpPr txBox="1"/>
          <p:nvPr>
            <p:ph idx="8" type="subTitle"/>
          </p:nvPr>
        </p:nvSpPr>
        <p:spPr>
          <a:xfrm>
            <a:off x="10284525" y="38416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83" name="Google Shape;483;p45"/>
          <p:cNvSpPr txBox="1"/>
          <p:nvPr>
            <p:ph idx="9" type="subTitle"/>
          </p:nvPr>
        </p:nvSpPr>
        <p:spPr>
          <a:xfrm>
            <a:off x="9078250" y="46035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84" name="Google Shape;484;p45"/>
          <p:cNvSpPr txBox="1"/>
          <p:nvPr>
            <p:ph idx="13" type="subTitle"/>
          </p:nvPr>
        </p:nvSpPr>
        <p:spPr>
          <a:xfrm>
            <a:off x="10284525" y="4603525"/>
            <a:ext cx="914400" cy="5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1_1_1_1_1_1_1_1_1_1_1_1_1_1_1_1_1_1_1_1_1_1_1_1_1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6" name="Google Shape;486;p46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" name="Google Shape;487;p46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88" name="Google Shape;48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9" name="Google Shape;489;p46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" name="Google Shape;490;p46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491" name="Google Shape;491;p46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492" name="Google Shape;492;p46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93" name="Google Shape;493;p46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494" name="Google Shape;494;p46"/>
          <p:cNvCxnSpPr/>
          <p:nvPr/>
        </p:nvCxnSpPr>
        <p:spPr>
          <a:xfrm>
            <a:off x="4307600" y="2776950"/>
            <a:ext cx="0" cy="25281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46"/>
          <p:cNvCxnSpPr/>
          <p:nvPr/>
        </p:nvCxnSpPr>
        <p:spPr>
          <a:xfrm>
            <a:off x="7890550" y="2776950"/>
            <a:ext cx="0" cy="25281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496" name="Google Shape;49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805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7759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0712" y="2217196"/>
            <a:ext cx="553219" cy="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6"/>
          <p:cNvSpPr txBox="1"/>
          <p:nvPr>
            <p:ph idx="4" type="subTitle"/>
          </p:nvPr>
        </p:nvSpPr>
        <p:spPr>
          <a:xfrm>
            <a:off x="1140925" y="2813700"/>
            <a:ext cx="2750400" cy="17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00" name="Google Shape;500;p46"/>
          <p:cNvSpPr txBox="1"/>
          <p:nvPr>
            <p:ph idx="5" type="subTitle"/>
          </p:nvPr>
        </p:nvSpPr>
        <p:spPr>
          <a:xfrm>
            <a:off x="1144000" y="4878972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501" name="Google Shape;501;p46"/>
          <p:cNvSpPr txBox="1"/>
          <p:nvPr>
            <p:ph idx="6" type="subTitle"/>
          </p:nvPr>
        </p:nvSpPr>
        <p:spPr>
          <a:xfrm>
            <a:off x="4722342" y="2813700"/>
            <a:ext cx="2750400" cy="17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02" name="Google Shape;502;p46"/>
          <p:cNvSpPr txBox="1"/>
          <p:nvPr>
            <p:ph idx="7" type="subTitle"/>
          </p:nvPr>
        </p:nvSpPr>
        <p:spPr>
          <a:xfrm>
            <a:off x="4725413" y="4878972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503" name="Google Shape;503;p46"/>
          <p:cNvSpPr txBox="1"/>
          <p:nvPr>
            <p:ph idx="8" type="subTitle"/>
          </p:nvPr>
        </p:nvSpPr>
        <p:spPr>
          <a:xfrm>
            <a:off x="8305272" y="2813700"/>
            <a:ext cx="2750400" cy="17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300"/>
              <a:buNone/>
              <a:defRPr sz="13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04" name="Google Shape;504;p46"/>
          <p:cNvSpPr txBox="1"/>
          <p:nvPr>
            <p:ph idx="9" type="subTitle"/>
          </p:nvPr>
        </p:nvSpPr>
        <p:spPr>
          <a:xfrm>
            <a:off x="8308338" y="4878972"/>
            <a:ext cx="27504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1_1_1_1_1_1_1_1_1_1_1_1_1_1_1_1_1_1_1_1_1_1_1_1_1_1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6" name="Google Shape;506;p47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7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08" name="Google Shape;508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9" name="Google Shape;509;p47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47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11" name="Google Shape;511;p47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12" name="Google Shape;512;p47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3" name="Google Shape;513;p47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514" name="Google Shape;514;p47"/>
          <p:cNvCxnSpPr/>
          <p:nvPr/>
        </p:nvCxnSpPr>
        <p:spPr>
          <a:xfrm>
            <a:off x="6098909" y="2796200"/>
            <a:ext cx="0" cy="29235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515" name="Google Shape;51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70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282" y="2044890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7"/>
          <p:cNvSpPr txBox="1"/>
          <p:nvPr>
            <p:ph idx="4" type="subTitle"/>
          </p:nvPr>
        </p:nvSpPr>
        <p:spPr>
          <a:xfrm>
            <a:off x="13431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18" name="Google Shape;518;p47"/>
          <p:cNvSpPr txBox="1"/>
          <p:nvPr>
            <p:ph idx="5" type="subTitle"/>
          </p:nvPr>
        </p:nvSpPr>
        <p:spPr>
          <a:xfrm>
            <a:off x="1343125" y="5110946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519" name="Google Shape;519;p47"/>
          <p:cNvSpPr txBox="1"/>
          <p:nvPr>
            <p:ph idx="6" type="subTitle"/>
          </p:nvPr>
        </p:nvSpPr>
        <p:spPr>
          <a:xfrm>
            <a:off x="6529325" y="2848100"/>
            <a:ext cx="4398000" cy="18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20" name="Google Shape;520;p47"/>
          <p:cNvSpPr txBox="1"/>
          <p:nvPr>
            <p:ph idx="7" type="subTitle"/>
          </p:nvPr>
        </p:nvSpPr>
        <p:spPr>
          <a:xfrm>
            <a:off x="6529325" y="5110946"/>
            <a:ext cx="43980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Text"/>
              <a:buNone/>
              <a:defRPr sz="12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1_1_1_1_1_1_1_1_1_1_1_1_1_1_1_1_1_1_1_1_1_1_1_1_1_1_1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2" name="Google Shape;522;p48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48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24" name="Google Shape;524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5" name="Google Shape;525;p48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" name="Google Shape;526;p48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27" name="Google Shape;527;p48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pic>
        <p:nvPicPr>
          <p:cNvPr id="528" name="Google Shape;52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19450" y="1298452"/>
            <a:ext cx="731700" cy="731684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8"/>
          <p:cNvSpPr txBox="1"/>
          <p:nvPr>
            <p:ph type="title"/>
          </p:nvPr>
        </p:nvSpPr>
        <p:spPr>
          <a:xfrm>
            <a:off x="4465550" y="1455375"/>
            <a:ext cx="6724800" cy="3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600"/>
              <a:buNone/>
              <a:defRPr sz="26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800"/>
              <a:buNone/>
              <a:defRPr sz="2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30" name="Google Shape;530;p48"/>
          <p:cNvSpPr txBox="1"/>
          <p:nvPr>
            <p:ph idx="3" type="subTitle"/>
          </p:nvPr>
        </p:nvSpPr>
        <p:spPr>
          <a:xfrm>
            <a:off x="4465600" y="5036725"/>
            <a:ext cx="40977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Red Hat Text"/>
              <a:buNone/>
              <a:defRPr sz="1400">
                <a:solidFill>
                  <a:srgbClr val="151515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1_1_1_1_1_1_1_1_1_1_1_1_1_1_1_1_1_1_1_1_1_1_1_1_1_1_1_1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2" name="Google Shape;532;p49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49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34" name="Google Shape;534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5" name="Google Shape;535;p49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" name="Google Shape;536;p49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37" name="Google Shape;537;p49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38" name="Google Shape;538;p49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9" name="Google Shape;539;p49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40" name="Google Shape;540;p49"/>
          <p:cNvSpPr txBox="1"/>
          <p:nvPr>
            <p:ph idx="4" type="subTitle"/>
          </p:nvPr>
        </p:nvSpPr>
        <p:spPr>
          <a:xfrm>
            <a:off x="2084625" y="2352950"/>
            <a:ext cx="3512100" cy="13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41" name="Google Shape;541;p49"/>
          <p:cNvSpPr txBox="1"/>
          <p:nvPr>
            <p:ph idx="5" type="subTitle"/>
          </p:nvPr>
        </p:nvSpPr>
        <p:spPr>
          <a:xfrm>
            <a:off x="6855075" y="2352950"/>
            <a:ext cx="3512100" cy="13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42" name="Google Shape;542;p49"/>
          <p:cNvSpPr txBox="1"/>
          <p:nvPr>
            <p:ph idx="6" type="subTitle"/>
          </p:nvPr>
        </p:nvSpPr>
        <p:spPr>
          <a:xfrm>
            <a:off x="2084625" y="4173201"/>
            <a:ext cx="3512100" cy="13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43" name="Google Shape;543;p49"/>
          <p:cNvSpPr txBox="1"/>
          <p:nvPr>
            <p:ph idx="7" type="subTitle"/>
          </p:nvPr>
        </p:nvSpPr>
        <p:spPr>
          <a:xfrm>
            <a:off x="6855075" y="4173201"/>
            <a:ext cx="3512100" cy="132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1_1_1_1_1_1_1_1_1_1_1_1_1_1_1_1_1_1_1_1_1_1_1_1_1_1_1_1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5" name="Google Shape;545;p50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50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47" name="Google Shape;547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50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" name="Google Shape;549;p50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50" name="Google Shape;550;p50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51" name="Google Shape;551;p50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2" name="Google Shape;552;p50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553" name="Google Shape;553;p50"/>
          <p:cNvCxnSpPr/>
          <p:nvPr/>
        </p:nvCxnSpPr>
        <p:spPr>
          <a:xfrm>
            <a:off x="3416583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50"/>
          <p:cNvCxnSpPr/>
          <p:nvPr/>
        </p:nvCxnSpPr>
        <p:spPr>
          <a:xfrm>
            <a:off x="6096100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50"/>
          <p:cNvCxnSpPr/>
          <p:nvPr/>
        </p:nvCxnSpPr>
        <p:spPr>
          <a:xfrm>
            <a:off x="8775617" y="3678000"/>
            <a:ext cx="0" cy="152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56" name="Google Shape;556;p50"/>
          <p:cNvSpPr txBox="1"/>
          <p:nvPr>
            <p:ph idx="4" type="subTitle"/>
          </p:nvPr>
        </p:nvSpPr>
        <p:spPr>
          <a:xfrm>
            <a:off x="885125" y="3754225"/>
            <a:ext cx="2383500" cy="14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57" name="Google Shape;557;p50"/>
          <p:cNvSpPr txBox="1"/>
          <p:nvPr>
            <p:ph idx="5" type="subTitle"/>
          </p:nvPr>
        </p:nvSpPr>
        <p:spPr>
          <a:xfrm>
            <a:off x="3564600" y="3754225"/>
            <a:ext cx="2383500" cy="14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58" name="Google Shape;558;p50"/>
          <p:cNvSpPr txBox="1"/>
          <p:nvPr>
            <p:ph idx="6" type="subTitle"/>
          </p:nvPr>
        </p:nvSpPr>
        <p:spPr>
          <a:xfrm>
            <a:off x="6244108" y="3754225"/>
            <a:ext cx="2383500" cy="14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59" name="Google Shape;559;p50"/>
          <p:cNvSpPr txBox="1"/>
          <p:nvPr>
            <p:ph idx="7" type="subTitle"/>
          </p:nvPr>
        </p:nvSpPr>
        <p:spPr>
          <a:xfrm>
            <a:off x="8923629" y="3754225"/>
            <a:ext cx="2383500" cy="149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1_1_1_1_1_1_1_1_1_1_1_1_1_1_1_1_1_1_1_1_1_1_1_1_1_1_1_1_1_2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1" name="Google Shape;561;p51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2" name="Google Shape;562;p51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63" name="Google Shape;56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4" name="Google Shape;564;p51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51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66" name="Google Shape;566;p51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67" name="Google Shape;567;p51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68" name="Google Shape;568;p51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569" name="Google Shape;569;p51"/>
          <p:cNvCxnSpPr/>
          <p:nvPr/>
        </p:nvCxnSpPr>
        <p:spPr>
          <a:xfrm>
            <a:off x="43061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51"/>
          <p:cNvCxnSpPr/>
          <p:nvPr/>
        </p:nvCxnSpPr>
        <p:spPr>
          <a:xfrm>
            <a:off x="7885850" y="4229725"/>
            <a:ext cx="0" cy="1557600"/>
          </a:xfrm>
          <a:prstGeom prst="straightConnector1">
            <a:avLst/>
          </a:prstGeom>
          <a:noFill/>
          <a:ln cap="flat" cmpd="sng" w="9525">
            <a:solidFill>
              <a:srgbClr val="5F00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71" name="Google Shape;571;p51"/>
          <p:cNvSpPr txBox="1"/>
          <p:nvPr>
            <p:ph idx="4" type="subTitle"/>
          </p:nvPr>
        </p:nvSpPr>
        <p:spPr>
          <a:xfrm>
            <a:off x="888700" y="4229725"/>
            <a:ext cx="3255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572" name="Google Shape;572;p51"/>
          <p:cNvSpPr txBox="1"/>
          <p:nvPr>
            <p:ph idx="5" type="subTitle"/>
          </p:nvPr>
        </p:nvSpPr>
        <p:spPr>
          <a:xfrm>
            <a:off x="4468350" y="4229725"/>
            <a:ext cx="3255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573" name="Google Shape;573;p51"/>
          <p:cNvSpPr txBox="1"/>
          <p:nvPr>
            <p:ph idx="6" type="subTitle"/>
          </p:nvPr>
        </p:nvSpPr>
        <p:spPr>
          <a:xfrm>
            <a:off x="8048050" y="4229725"/>
            <a:ext cx="3255300" cy="14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1_1_1_1_1_1_1_1_1_1_1_1_1_1_1_1_1_1_1_1_1_1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5" name="Google Shape;575;p52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52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77" name="Google Shape;577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8" name="Google Shape;578;p52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9" name="Google Shape;579;p52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80" name="Google Shape;580;p52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81" name="Google Shape;581;p52"/>
          <p:cNvSpPr txBox="1"/>
          <p:nvPr>
            <p:ph type="title"/>
          </p:nvPr>
        </p:nvSpPr>
        <p:spPr>
          <a:xfrm>
            <a:off x="885125" y="1240700"/>
            <a:ext cx="41148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2" name="Google Shape;582;p52"/>
          <p:cNvSpPr txBox="1"/>
          <p:nvPr>
            <p:ph idx="3" type="subTitle"/>
          </p:nvPr>
        </p:nvSpPr>
        <p:spPr>
          <a:xfrm>
            <a:off x="883475" y="3372000"/>
            <a:ext cx="3291900" cy="198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83" name="Google Shape;583;p52"/>
          <p:cNvSpPr txBox="1"/>
          <p:nvPr>
            <p:ph idx="4" type="subTitle"/>
          </p:nvPr>
        </p:nvSpPr>
        <p:spPr>
          <a:xfrm>
            <a:off x="6857350" y="1240700"/>
            <a:ext cx="4660800" cy="12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84" name="Google Shape;584;p52"/>
          <p:cNvSpPr txBox="1"/>
          <p:nvPr>
            <p:ph idx="5" type="subTitle"/>
          </p:nvPr>
        </p:nvSpPr>
        <p:spPr>
          <a:xfrm>
            <a:off x="6857350" y="2824575"/>
            <a:ext cx="4660800" cy="12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85" name="Google Shape;585;p52"/>
          <p:cNvSpPr txBox="1"/>
          <p:nvPr>
            <p:ph idx="6" type="subTitle"/>
          </p:nvPr>
        </p:nvSpPr>
        <p:spPr>
          <a:xfrm>
            <a:off x="6857350" y="4408450"/>
            <a:ext cx="4660800" cy="12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1pPr>
            <a:lvl2pPr lvl="1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2pPr>
            <a:lvl3pPr lvl="2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3pPr>
            <a:lvl4pPr lvl="3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4pPr>
            <a:lvl5pPr lvl="4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5pPr>
            <a:lvl6pPr lvl="5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6pPr>
            <a:lvl7pPr lvl="6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7pPr>
            <a:lvl8pPr lvl="7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>
                <a:solidFill>
                  <a:srgbClr val="151515"/>
                </a:solidFill>
              </a:defRPr>
            </a:lvl8pPr>
            <a:lvl9pPr lvl="8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1_1_1_1_1_1_1_1_1_1_1_1_1_1_1_1_1_1_1_1_1_1_1_1_1_1_1_1_1_1_1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7" name="Google Shape;587;p53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" name="Google Shape;588;p53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89" name="Google Shape;589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0" name="Google Shape;590;p53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1" name="Google Shape;591;p53"/>
          <p:cNvSpPr txBox="1"/>
          <p:nvPr>
            <p:ph idx="1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  <p:sp>
        <p:nvSpPr>
          <p:cNvPr id="592" name="Google Shape;592;p53"/>
          <p:cNvSpPr txBox="1"/>
          <p:nvPr>
            <p:ph idx="2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93" name="Google Shape;593;p53"/>
          <p:cNvSpPr txBox="1"/>
          <p:nvPr>
            <p:ph type="title"/>
          </p:nvPr>
        </p:nvSpPr>
        <p:spPr>
          <a:xfrm>
            <a:off x="885125" y="1100350"/>
            <a:ext cx="10422000" cy="5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94" name="Google Shape;594;p53"/>
          <p:cNvSpPr txBox="1"/>
          <p:nvPr>
            <p:ph idx="3" type="subTitle"/>
          </p:nvPr>
        </p:nvSpPr>
        <p:spPr>
          <a:xfrm>
            <a:off x="885125" y="1653550"/>
            <a:ext cx="10422000" cy="2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EE0000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None/>
              <a:defRPr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595" name="Google Shape;595;p53"/>
          <p:cNvSpPr txBox="1"/>
          <p:nvPr>
            <p:ph idx="4" type="subTitle"/>
          </p:nvPr>
        </p:nvSpPr>
        <p:spPr>
          <a:xfrm>
            <a:off x="5662074" y="2539255"/>
            <a:ext cx="5486400" cy="31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None/>
              <a:defRPr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1_1_1_1_1_1_1_1_1_1_1_1_1_1_1_1_1_1_1_1_1_1_1_1_1_1_1_1_1_1_1_1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7" name="Google Shape;597;p54"/>
          <p:cNvCxnSpPr/>
          <p:nvPr/>
        </p:nvCxnSpPr>
        <p:spPr>
          <a:xfrm rot="10800000">
            <a:off x="447767" y="6401400"/>
            <a:ext cx="0" cy="456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" name="Google Shape;598;p54"/>
          <p:cNvSpPr txBox="1"/>
          <p:nvPr/>
        </p:nvSpPr>
        <p:spPr>
          <a:xfrm>
            <a:off x="81975" y="6169556"/>
            <a:ext cx="7317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151515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‹#›</a:t>
            </a:fld>
            <a:endParaRPr sz="800">
              <a:solidFill>
                <a:srgbClr val="151515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599" name="Google Shape;599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5875" y="6243950"/>
            <a:ext cx="393800" cy="297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0" name="Google Shape;600;p54"/>
          <p:cNvCxnSpPr/>
          <p:nvPr/>
        </p:nvCxnSpPr>
        <p:spPr>
          <a:xfrm rot="10800000">
            <a:off x="447775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1" name="Google Shape;601;p54"/>
          <p:cNvSpPr txBox="1"/>
          <p:nvPr>
            <p:ph idx="1" type="subTitle"/>
          </p:nvPr>
        </p:nvSpPr>
        <p:spPr>
          <a:xfrm>
            <a:off x="447775" y="55450"/>
            <a:ext cx="51489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EE0000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000"/>
              <a:buNone/>
              <a:defRPr sz="1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602" name="Google Shape;602;p54"/>
          <p:cNvSpPr txBox="1"/>
          <p:nvPr>
            <p:ph type="title"/>
          </p:nvPr>
        </p:nvSpPr>
        <p:spPr>
          <a:xfrm>
            <a:off x="3280325" y="1652950"/>
            <a:ext cx="7431000" cy="393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2800"/>
              <a:buNone/>
              <a:defRPr sz="28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603" name="Google Shape;603;p54"/>
          <p:cNvSpPr txBox="1"/>
          <p:nvPr>
            <p:ph idx="2" type="subTitle"/>
          </p:nvPr>
        </p:nvSpPr>
        <p:spPr>
          <a:xfrm>
            <a:off x="885050" y="6169545"/>
            <a:ext cx="80025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800"/>
              <a:buNone/>
              <a:defRPr sz="800">
                <a:solidFill>
                  <a:srgbClr val="15151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 1">
  <p:cSld name="CUSTOM_4_18"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5"/>
          <p:cNvSpPr txBox="1"/>
          <p:nvPr>
            <p:ph idx="1" type="subTitle"/>
          </p:nvPr>
        </p:nvSpPr>
        <p:spPr>
          <a:xfrm>
            <a:off x="447663" y="55441"/>
            <a:ext cx="5147400" cy="816300"/>
          </a:xfrm>
          <a:prstGeom prst="rect">
            <a:avLst/>
          </a:prstGeom>
        </p:spPr>
        <p:txBody>
          <a:bodyPr anchorCtr="0" anchor="ctr" bIns="91425" lIns="4388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606" name="Google Shape;606;p55"/>
          <p:cNvCxnSpPr/>
          <p:nvPr/>
        </p:nvCxnSpPr>
        <p:spPr>
          <a:xfrm rot="10800000">
            <a:off x="447663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" name="Google Shape;607;p55"/>
          <p:cNvCxnSpPr/>
          <p:nvPr/>
        </p:nvCxnSpPr>
        <p:spPr>
          <a:xfrm rot="10800000">
            <a:off x="447655" y="6401700"/>
            <a:ext cx="0" cy="456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" name="Google Shape;608;p55"/>
          <p:cNvSpPr txBox="1"/>
          <p:nvPr>
            <p:ph idx="2" type="subTitle"/>
          </p:nvPr>
        </p:nvSpPr>
        <p:spPr>
          <a:xfrm>
            <a:off x="884829" y="6169550"/>
            <a:ext cx="8000400" cy="5601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09" name="Google Shape;609;p55"/>
          <p:cNvSpPr txBox="1"/>
          <p:nvPr>
            <p:ph idx="12" type="sldNum"/>
          </p:nvPr>
        </p:nvSpPr>
        <p:spPr>
          <a:xfrm>
            <a:off x="81954" y="6169556"/>
            <a:ext cx="731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0" name="Google Shape;6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53009" y="6243950"/>
            <a:ext cx="393701" cy="29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 1">
  <p:cSld name="CUSTOM_4_22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6"/>
          <p:cNvSpPr txBox="1"/>
          <p:nvPr>
            <p:ph type="title"/>
          </p:nvPr>
        </p:nvSpPr>
        <p:spPr>
          <a:xfrm>
            <a:off x="1752162" y="868680"/>
            <a:ext cx="8684700" cy="9681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613" name="Google Shape;613;p56"/>
          <p:cNvCxnSpPr/>
          <p:nvPr/>
        </p:nvCxnSpPr>
        <p:spPr>
          <a:xfrm rot="10800000">
            <a:off x="447663" y="100"/>
            <a:ext cx="0" cy="886500"/>
          </a:xfrm>
          <a:prstGeom prst="straightConnector1">
            <a:avLst/>
          </a:prstGeom>
          <a:noFill/>
          <a:ln cap="flat" cmpd="sng" w="12700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4" name="Google Shape;614;p56"/>
          <p:cNvSpPr txBox="1"/>
          <p:nvPr>
            <p:ph idx="1" type="subTitle"/>
          </p:nvPr>
        </p:nvSpPr>
        <p:spPr>
          <a:xfrm>
            <a:off x="447663" y="55441"/>
            <a:ext cx="5147700" cy="816300"/>
          </a:xfrm>
          <a:prstGeom prst="rect">
            <a:avLst/>
          </a:prstGeom>
        </p:spPr>
        <p:txBody>
          <a:bodyPr anchorCtr="0" anchor="ctr" bIns="91425" lIns="4389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 Medium"/>
              <a:buNone/>
              <a:defRPr sz="11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Overpass SemiBold"/>
              <a:buNone/>
              <a:defRPr sz="9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615" name="Google Shape;615;p56"/>
          <p:cNvCxnSpPr/>
          <p:nvPr/>
        </p:nvCxnSpPr>
        <p:spPr>
          <a:xfrm rot="10800000">
            <a:off x="447655" y="6401700"/>
            <a:ext cx="0" cy="456300"/>
          </a:xfrm>
          <a:prstGeom prst="straightConnector1">
            <a:avLst/>
          </a:prstGeom>
          <a:noFill/>
          <a:ln cap="flat" cmpd="sng" w="12700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6" name="Google Shape;616;p56"/>
          <p:cNvSpPr txBox="1"/>
          <p:nvPr>
            <p:ph idx="12" type="sldNum"/>
          </p:nvPr>
        </p:nvSpPr>
        <p:spPr>
          <a:xfrm>
            <a:off x="81954" y="6169556"/>
            <a:ext cx="731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>
              <a:buNone/>
              <a:defRPr sz="8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7" name="Google Shape;617;p5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08600" y="6313250"/>
            <a:ext cx="975606" cy="228064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6"/>
          <p:cNvSpPr txBox="1"/>
          <p:nvPr>
            <p:ph idx="2" type="subTitle"/>
          </p:nvPr>
        </p:nvSpPr>
        <p:spPr>
          <a:xfrm>
            <a:off x="884829" y="6169550"/>
            <a:ext cx="9180900" cy="5601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4D4D4F"/>
                </a:solidFill>
              </a:defRPr>
            </a:lvl1pPr>
            <a:lvl2pPr lvl="1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2pPr>
            <a:lvl3pPr lvl="2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3pPr>
            <a:lvl4pPr lvl="3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4pPr>
            <a:lvl5pPr lvl="4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5pPr>
            <a:lvl6pPr lvl="5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6pPr>
            <a:lvl7pPr lvl="6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7pPr>
            <a:lvl8pPr lvl="7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8pPr>
            <a:lvl9pPr lvl="8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 5">
  <p:cSld name="CUSTOM_4_17_2_8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0" name="Google Shape;620;p57"/>
          <p:cNvCxnSpPr/>
          <p:nvPr/>
        </p:nvCxnSpPr>
        <p:spPr>
          <a:xfrm rot="10800000">
            <a:off x="447663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57"/>
          <p:cNvCxnSpPr/>
          <p:nvPr/>
        </p:nvCxnSpPr>
        <p:spPr>
          <a:xfrm rot="10800000">
            <a:off x="447655" y="6401700"/>
            <a:ext cx="0" cy="456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57"/>
          <p:cNvSpPr txBox="1"/>
          <p:nvPr>
            <p:ph idx="12" type="sldNum"/>
          </p:nvPr>
        </p:nvSpPr>
        <p:spPr>
          <a:xfrm>
            <a:off x="81954" y="6169556"/>
            <a:ext cx="731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3" name="Google Shape;623;p57"/>
          <p:cNvSpPr txBox="1"/>
          <p:nvPr>
            <p:ph idx="1" type="subTitle"/>
          </p:nvPr>
        </p:nvSpPr>
        <p:spPr>
          <a:xfrm>
            <a:off x="884829" y="6169550"/>
            <a:ext cx="8000400" cy="5601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4" name="Google Shape;624;p57"/>
          <p:cNvSpPr txBox="1"/>
          <p:nvPr>
            <p:ph idx="2" type="subTitle"/>
          </p:nvPr>
        </p:nvSpPr>
        <p:spPr>
          <a:xfrm>
            <a:off x="447663" y="55441"/>
            <a:ext cx="5147400" cy="816300"/>
          </a:xfrm>
          <a:prstGeom prst="rect">
            <a:avLst/>
          </a:prstGeom>
        </p:spPr>
        <p:txBody>
          <a:bodyPr anchorCtr="0" anchor="ctr" bIns="91425" lIns="4388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5" name="Google Shape;625;p57"/>
          <p:cNvSpPr txBox="1"/>
          <p:nvPr>
            <p:ph type="title"/>
          </p:nvPr>
        </p:nvSpPr>
        <p:spPr>
          <a:xfrm>
            <a:off x="884829" y="1100350"/>
            <a:ext cx="10419300" cy="553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626" name="Google Shape;626;p57"/>
          <p:cNvSpPr txBox="1"/>
          <p:nvPr>
            <p:ph idx="3" type="body"/>
          </p:nvPr>
        </p:nvSpPr>
        <p:spPr>
          <a:xfrm>
            <a:off x="2437790" y="2286000"/>
            <a:ext cx="7313400" cy="365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arenR"/>
              <a:defRPr/>
            </a:lvl1pPr>
            <a:lvl2pPr indent="-342900" lvl="1" marL="9144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romanLcParenR"/>
              <a:defRPr/>
            </a:lvl3pPr>
            <a:lvl4pPr indent="-342900" lvl="3" marL="18288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arenBoth"/>
              <a:defRPr/>
            </a:lvl4pPr>
            <a:lvl5pPr indent="-342900" lvl="4" marL="22860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alphaLcParenBoth"/>
              <a:defRPr/>
            </a:lvl5pPr>
            <a:lvl6pPr indent="-342900" lvl="5" marL="27432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romanLcParenBoth"/>
              <a:defRPr/>
            </a:lvl6pPr>
            <a:lvl7pPr indent="-342900" lvl="6" marL="32004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7pPr>
            <a:lvl8pPr indent="-342900" lvl="7" marL="3657600">
              <a:lnSpc>
                <a:spcPct val="135000"/>
              </a:lnSpc>
              <a:spcBef>
                <a:spcPts val="1100"/>
              </a:spcBef>
              <a:spcAft>
                <a:spcPts val="0"/>
              </a:spcAft>
              <a:buSzPts val="1800"/>
              <a:buAutoNum type="alphaLcPeriod"/>
              <a:defRPr/>
            </a:lvl8pPr>
            <a:lvl9pPr indent="-342900" lvl="8" marL="4114800">
              <a:lnSpc>
                <a:spcPct val="135000"/>
              </a:lnSpc>
              <a:spcBef>
                <a:spcPts val="1100"/>
              </a:spcBef>
              <a:spcAft>
                <a:spcPts val="1100"/>
              </a:spcAft>
              <a:buSzPts val="1800"/>
              <a:buAutoNum type="romanLcPeriod"/>
              <a:defRPr/>
            </a:lvl9pPr>
          </a:lstStyle>
          <a:p/>
        </p:txBody>
      </p:sp>
      <p:sp>
        <p:nvSpPr>
          <p:cNvPr id="627" name="Google Shape;627;p57"/>
          <p:cNvSpPr/>
          <p:nvPr/>
        </p:nvSpPr>
        <p:spPr>
          <a:xfrm>
            <a:off x="11453009" y="6243950"/>
            <a:ext cx="393701" cy="29735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 1 1">
  <p:cSld name="CUSTOM_4_18_3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8"/>
          <p:cNvSpPr txBox="1"/>
          <p:nvPr>
            <p:ph idx="1" type="subTitle"/>
          </p:nvPr>
        </p:nvSpPr>
        <p:spPr>
          <a:xfrm>
            <a:off x="447663" y="55441"/>
            <a:ext cx="5147400" cy="816300"/>
          </a:xfrm>
          <a:prstGeom prst="rect">
            <a:avLst/>
          </a:prstGeom>
        </p:spPr>
        <p:txBody>
          <a:bodyPr anchorCtr="0" anchor="ctr" bIns="91425" lIns="4388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630" name="Google Shape;630;p58"/>
          <p:cNvCxnSpPr/>
          <p:nvPr/>
        </p:nvCxnSpPr>
        <p:spPr>
          <a:xfrm rot="10800000">
            <a:off x="447663" y="10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58"/>
          <p:cNvCxnSpPr/>
          <p:nvPr/>
        </p:nvCxnSpPr>
        <p:spPr>
          <a:xfrm rot="10800000">
            <a:off x="447655" y="6401700"/>
            <a:ext cx="0" cy="456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58"/>
          <p:cNvSpPr txBox="1"/>
          <p:nvPr>
            <p:ph idx="12" type="sldNum"/>
          </p:nvPr>
        </p:nvSpPr>
        <p:spPr>
          <a:xfrm>
            <a:off x="81954" y="6169556"/>
            <a:ext cx="731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3" name="Google Shape;633;p5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08600" y="6313250"/>
            <a:ext cx="975606" cy="228064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58"/>
          <p:cNvSpPr txBox="1"/>
          <p:nvPr>
            <p:ph idx="2" type="subTitle"/>
          </p:nvPr>
        </p:nvSpPr>
        <p:spPr>
          <a:xfrm>
            <a:off x="884829" y="6169550"/>
            <a:ext cx="8000400" cy="5601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">
  <p:cSld name="CUSTOM_4_23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9"/>
          <p:cNvSpPr txBox="1"/>
          <p:nvPr>
            <p:ph idx="1" type="subTitle"/>
          </p:nvPr>
        </p:nvSpPr>
        <p:spPr>
          <a:xfrm>
            <a:off x="447663" y="55441"/>
            <a:ext cx="5147400" cy="816300"/>
          </a:xfrm>
          <a:prstGeom prst="rect">
            <a:avLst/>
          </a:prstGeom>
        </p:spPr>
        <p:txBody>
          <a:bodyPr anchorCtr="0" anchor="ctr" bIns="91425" lIns="4388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Display Medium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Red Hat Text Medium"/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637" name="Google Shape;637;p59"/>
          <p:cNvCxnSpPr/>
          <p:nvPr/>
        </p:nvCxnSpPr>
        <p:spPr>
          <a:xfrm rot="10800000">
            <a:off x="447663" y="100"/>
            <a:ext cx="0" cy="8865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8" name="Google Shape;638;p59"/>
          <p:cNvCxnSpPr/>
          <p:nvPr/>
        </p:nvCxnSpPr>
        <p:spPr>
          <a:xfrm rot="10800000">
            <a:off x="447655" y="6401700"/>
            <a:ext cx="0" cy="4563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59"/>
          <p:cNvSpPr txBox="1"/>
          <p:nvPr>
            <p:ph idx="12" type="sldNum"/>
          </p:nvPr>
        </p:nvSpPr>
        <p:spPr>
          <a:xfrm>
            <a:off x="81954" y="6169556"/>
            <a:ext cx="731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0" name="Google Shape;640;p5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08600" y="6313250"/>
            <a:ext cx="975606" cy="228064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59"/>
          <p:cNvSpPr txBox="1"/>
          <p:nvPr>
            <p:ph idx="2" type="subTitle"/>
          </p:nvPr>
        </p:nvSpPr>
        <p:spPr>
          <a:xfrm>
            <a:off x="884829" y="6169550"/>
            <a:ext cx="8000400" cy="5601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2" name="Google Shape;642;p59"/>
          <p:cNvSpPr txBox="1"/>
          <p:nvPr>
            <p:ph type="title"/>
          </p:nvPr>
        </p:nvSpPr>
        <p:spPr>
          <a:xfrm>
            <a:off x="884829" y="1100350"/>
            <a:ext cx="10419300" cy="5532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700"/>
            </a:lvl9pPr>
          </a:lstStyle>
          <a:p/>
        </p:txBody>
      </p:sp>
      <p:sp>
        <p:nvSpPr>
          <p:cNvPr id="643" name="Google Shape;643;p59"/>
          <p:cNvSpPr txBox="1"/>
          <p:nvPr>
            <p:ph idx="3" type="subTitle"/>
          </p:nvPr>
        </p:nvSpPr>
        <p:spPr>
          <a:xfrm>
            <a:off x="884904" y="1653550"/>
            <a:ext cx="10419300" cy="2919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8pPr>
            <a:lvl9pPr lvl="8" algn="ctr">
              <a:spcBef>
                <a:spcPts val="1000"/>
              </a:spcBef>
              <a:spcAft>
                <a:spcPts val="1000"/>
              </a:spcAft>
              <a:buNone/>
              <a:defRPr sz="19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with Image">
  <p:cSld name="CUSTOM_3_2">
    <p:bg>
      <p:bgPr>
        <a:solidFill>
          <a:schemeClr val="lt1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0"/>
          <p:cNvSpPr/>
          <p:nvPr/>
        </p:nvSpPr>
        <p:spPr>
          <a:xfrm>
            <a:off x="-50" y="0"/>
            <a:ext cx="881700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646" name="Google Shape;646;p60"/>
          <p:cNvCxnSpPr/>
          <p:nvPr/>
        </p:nvCxnSpPr>
        <p:spPr>
          <a:xfrm rot="10800000">
            <a:off x="447655" y="6401700"/>
            <a:ext cx="0" cy="456300"/>
          </a:xfrm>
          <a:prstGeom prst="straightConnector1">
            <a:avLst/>
          </a:prstGeom>
          <a:noFill/>
          <a:ln cap="flat" cmpd="sng" w="12700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7" name="Google Shape;647;p60"/>
          <p:cNvSpPr txBox="1"/>
          <p:nvPr>
            <p:ph idx="1" type="subTitle"/>
          </p:nvPr>
        </p:nvSpPr>
        <p:spPr>
          <a:xfrm rot="5400000">
            <a:off x="-2138518" y="2138550"/>
            <a:ext cx="5148900" cy="8718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Text Medium"/>
              <a:buNone/>
              <a:defRPr sz="11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648" name="Google Shape;648;p6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10708600" y="6313250"/>
            <a:ext cx="975606" cy="228064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60"/>
          <p:cNvSpPr txBox="1"/>
          <p:nvPr>
            <p:ph idx="12" type="sldNum"/>
          </p:nvPr>
        </p:nvSpPr>
        <p:spPr>
          <a:xfrm>
            <a:off x="81954" y="6169556"/>
            <a:ext cx="731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0" name="Google Shape;650;p60"/>
          <p:cNvSpPr txBox="1"/>
          <p:nvPr>
            <p:ph idx="2" type="subTitle"/>
          </p:nvPr>
        </p:nvSpPr>
        <p:spPr>
          <a:xfrm>
            <a:off x="5659109" y="3971650"/>
            <a:ext cx="4445100" cy="9144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Red Hat Display"/>
              <a:buNone/>
              <a:defRPr sz="1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2pPr>
            <a:lvl3pPr lvl="2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3pPr>
            <a:lvl4pPr lvl="3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4pPr>
            <a:lvl5pPr lvl="4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5pPr>
            <a:lvl6pPr lvl="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6pPr>
            <a:lvl7pPr lvl="6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7pPr>
            <a:lvl8pPr lvl="7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8pPr>
            <a:lvl9pPr lvl="8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1" name="Google Shape;651;p60"/>
          <p:cNvSpPr txBox="1"/>
          <p:nvPr>
            <p:ph type="title"/>
          </p:nvPr>
        </p:nvSpPr>
        <p:spPr>
          <a:xfrm>
            <a:off x="5659109" y="1709031"/>
            <a:ext cx="5734800" cy="2117700"/>
          </a:xfrm>
          <a:prstGeom prst="rect">
            <a:avLst/>
          </a:prstGeom>
        </p:spPr>
        <p:txBody>
          <a:bodyPr anchorCtr="0" anchor="b" bIns="121875" lIns="121875" spcFirstLastPara="1" rIns="121875" wrap="square" tIns="12187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7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52" name="Google Shape;652;p60"/>
          <p:cNvSpPr txBox="1"/>
          <p:nvPr>
            <p:ph idx="3" type="subTitle"/>
          </p:nvPr>
        </p:nvSpPr>
        <p:spPr>
          <a:xfrm>
            <a:off x="5659109" y="5318275"/>
            <a:ext cx="2039700" cy="605700"/>
          </a:xfrm>
          <a:prstGeom prst="rect">
            <a:avLst/>
          </a:prstGeom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ed Hat Display Medium"/>
              <a:buNone/>
              <a:defRPr sz="1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3" name="Google Shape;653;p60"/>
          <p:cNvSpPr/>
          <p:nvPr/>
        </p:nvSpPr>
        <p:spPr>
          <a:xfrm>
            <a:off x="8899623" y="5878875"/>
            <a:ext cx="3289200" cy="97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4" name="Google Shape;654;p60"/>
          <p:cNvPicPr preferRelativeResize="0"/>
          <p:nvPr/>
        </p:nvPicPr>
        <p:blipFill rotWithShape="1">
          <a:blip r:embed="rId3">
            <a:alphaModFix/>
          </a:blip>
          <a:srcRect b="0" l="0" r="41877" t="0"/>
          <a:stretch/>
        </p:blipFill>
        <p:spPr>
          <a:xfrm>
            <a:off x="10868935" y="6116250"/>
            <a:ext cx="1208002" cy="62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1"/>
          <p:cNvSpPr txBox="1"/>
          <p:nvPr>
            <p:ph idx="10" type="dt"/>
          </p:nvPr>
        </p:nvSpPr>
        <p:spPr>
          <a:xfrm>
            <a:off x="457086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7" name="Google Shape;657;p61"/>
          <p:cNvSpPr txBox="1"/>
          <p:nvPr>
            <p:ph idx="11" type="ftr"/>
          </p:nvPr>
        </p:nvSpPr>
        <p:spPr>
          <a:xfrm>
            <a:off x="3123418" y="6356350"/>
            <a:ext cx="289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8" name="Google Shape;658;p61"/>
          <p:cNvSpPr txBox="1"/>
          <p:nvPr>
            <p:ph idx="12" type="sldNum"/>
          </p:nvPr>
        </p:nvSpPr>
        <p:spPr>
          <a:xfrm>
            <a:off x="6551561" y="6356350"/>
            <a:ext cx="213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496" y="593367"/>
            <a:ext cx="113580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33"/>
              <a:buFont typeface="Red Hat Display"/>
              <a:buNone/>
              <a:defRPr sz="3433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/>
        </p:nvSpPr>
        <p:spPr>
          <a:xfrm>
            <a:off x="9677749" y="269825"/>
            <a:ext cx="2009400" cy="29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Red Hat Text Medium"/>
                <a:ea typeface="Red Hat Text Medium"/>
                <a:cs typeface="Red Hat Text Medium"/>
                <a:sym typeface="Red Hat Text Medium"/>
              </a:rPr>
              <a:t>Internal - Confidential</a:t>
            </a:r>
            <a:endParaRPr sz="7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15496" y="1536633"/>
            <a:ext cx="113580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121875" spcFirstLastPara="1" rIns="121875" wrap="square" tIns="12187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AutoNum type="arabicParenR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429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AutoNum type="alphaLcParenR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429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AutoNum type="romanLcParenR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429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AutoNum type="arabicParenBoth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429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AutoNum type="alphaLcParenBoth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429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800"/>
              <a:buFont typeface="Red Hat Display"/>
              <a:buAutoNum type="romanLcParenBoth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429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Red Hat Display"/>
              <a:buAutoNum type="arabicPeriod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429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ed Hat Display"/>
              <a:buAutoNum type="alphaLcPeriod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429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51515"/>
              </a:buClr>
              <a:buSzPts val="1800"/>
              <a:buFont typeface="Red Hat Display"/>
              <a:buAutoNum type="romanLcPeriod"/>
              <a:defRPr sz="18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redhat.com/en/lightwel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Google Shape;663;p62" title="backgrounds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721" y="0"/>
            <a:ext cx="357634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62"/>
          <p:cNvSpPr txBox="1"/>
          <p:nvPr>
            <p:ph type="title"/>
          </p:nvPr>
        </p:nvSpPr>
        <p:spPr>
          <a:xfrm>
            <a:off x="5059903" y="1698100"/>
            <a:ext cx="5736300" cy="2117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CVE to test scope</a:t>
            </a:r>
            <a:endParaRPr/>
          </a:p>
        </p:txBody>
      </p:sp>
      <p:sp>
        <p:nvSpPr>
          <p:cNvPr id="665" name="Google Shape;665;p62"/>
          <p:cNvSpPr txBox="1"/>
          <p:nvPr>
            <p:ph idx="2" type="subTitle"/>
          </p:nvPr>
        </p:nvSpPr>
        <p:spPr>
          <a:xfrm>
            <a:off x="5059903" y="3960725"/>
            <a:ext cx="4446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upgrade-delta — delta reports, project scorecards &amp; test routing</a:t>
            </a:r>
            <a:endParaRPr/>
          </a:p>
        </p:txBody>
      </p:sp>
      <p:sp>
        <p:nvSpPr>
          <p:cNvPr id="666" name="Google Shape;666;p62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Red Hat Services</a:t>
            </a:r>
            <a:endParaRPr/>
          </a:p>
        </p:txBody>
      </p:sp>
      <p:sp>
        <p:nvSpPr>
          <p:cNvPr id="667" name="Google Shape;667;p62"/>
          <p:cNvSpPr txBox="1"/>
          <p:nvPr>
            <p:ph idx="3" type="subTitle"/>
          </p:nvPr>
        </p:nvSpPr>
        <p:spPr>
          <a:xfrm>
            <a:off x="5059900" y="5318275"/>
            <a:ext cx="33681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ed Hat Display"/>
                <a:ea typeface="Red Hat Display"/>
                <a:cs typeface="Red Hat Display"/>
                <a:sym typeface="Red Hat Display"/>
              </a:rPr>
              <a:t>Red Hat Lightwell</a:t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 Hat Services</a:t>
            </a:r>
            <a:endParaRPr/>
          </a:p>
        </p:txBody>
      </p:sp>
      <p:sp>
        <p:nvSpPr>
          <p:cNvPr id="668" name="Google Shape;668;p62"/>
          <p:cNvSpPr txBox="1"/>
          <p:nvPr>
            <p:ph idx="3" type="subTitle"/>
          </p:nvPr>
        </p:nvSpPr>
        <p:spPr>
          <a:xfrm>
            <a:off x="8586029" y="5318275"/>
            <a:ext cx="3368100" cy="60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ed Hat Display"/>
                <a:ea typeface="Red Hat Display"/>
                <a:cs typeface="Red Hat Display"/>
                <a:sym typeface="Red Hat Display"/>
              </a:rPr>
              <a:t>Red Hat Lightwell</a:t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 Hat Services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63"/>
          <p:cNvSpPr txBox="1"/>
          <p:nvPr>
            <p:ph idx="2" type="subTitle"/>
          </p:nvPr>
        </p:nvSpPr>
        <p:spPr>
          <a:xfrm>
            <a:off x="764025" y="6271000"/>
            <a:ext cx="8707200" cy="5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Source: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https://www.redhat.com/en/lightwell</a:t>
            </a:r>
            <a:r>
              <a:rPr lang="en"/>
              <a:t> </a:t>
            </a:r>
            <a:endParaRPr/>
          </a:p>
        </p:txBody>
      </p:sp>
      <p:sp>
        <p:nvSpPr>
          <p:cNvPr id="674" name="Google Shape;674;p63"/>
          <p:cNvSpPr txBox="1"/>
          <p:nvPr>
            <p:ph type="title"/>
          </p:nvPr>
        </p:nvSpPr>
        <p:spPr>
          <a:xfrm>
            <a:off x="727300" y="1652950"/>
            <a:ext cx="10969500" cy="160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51515"/>
                </a:solidFill>
              </a:rPr>
              <a:t>Red Hat Lightwell</a:t>
            </a:r>
            <a:r>
              <a:rPr lang="en" sz="1400">
                <a:solidFill>
                  <a:srgbClr val="151515"/>
                </a:solidFill>
              </a:rPr>
              <a:t> is a joint initiative between Red Hat and IBM focused on securing the open source software supply chain. It serves as a trusted clearinghouse for vulnerability management, coordinating scanning, triage, patching, backporting, and upstream collaboration. </a:t>
            </a:r>
            <a:endParaRPr sz="1400">
              <a:solidFill>
                <a:srgbClr val="15151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5151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51515"/>
                </a:solidFill>
              </a:rPr>
              <a:t>Lightwell also provides curated and certified package registries for ecosystems such as Java, Python, and JavaScript, helping organizations consume open source software more securely and confidently.</a:t>
            </a:r>
            <a:endParaRPr sz="1400">
              <a:solidFill>
                <a:srgbClr val="15151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51515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51515"/>
                </a:solidFill>
              </a:rPr>
              <a:t>There are 2 (two) membership tiers:</a:t>
            </a:r>
            <a:endParaRPr sz="1400">
              <a:solidFill>
                <a:srgbClr val="151515"/>
              </a:solidFill>
            </a:endParaRPr>
          </a:p>
        </p:txBody>
      </p:sp>
      <p:sp>
        <p:nvSpPr>
          <p:cNvPr id="675" name="Google Shape;675;p63"/>
          <p:cNvSpPr txBox="1"/>
          <p:nvPr>
            <p:ph type="title"/>
          </p:nvPr>
        </p:nvSpPr>
        <p:spPr>
          <a:xfrm>
            <a:off x="804150" y="338350"/>
            <a:ext cx="10698000" cy="55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What is Red Hat Lightwell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76" name="Google Shape;676;p63"/>
          <p:cNvSpPr txBox="1"/>
          <p:nvPr/>
        </p:nvSpPr>
        <p:spPr>
          <a:xfrm>
            <a:off x="1909700" y="3429009"/>
            <a:ext cx="3780900" cy="27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EE0000"/>
                </a:solidFill>
                <a:latin typeface="Red Hat Text"/>
                <a:ea typeface="Red Hat Text"/>
                <a:cs typeface="Red Hat Text"/>
                <a:sym typeface="Red Hat Text"/>
              </a:rPr>
              <a:t>Lightwell Network</a:t>
            </a:r>
            <a:endParaRPr b="1" sz="1300">
              <a:solidFill>
                <a:srgbClr val="EE0000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91440" lvl="0" marL="18288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Access to libraries, remediations, and patches as they become available.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485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Red Hat Text"/>
              <a:buChar char="▶"/>
            </a:pPr>
            <a:r>
              <a:rPr b="1"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Remediation </a:t>
            </a: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for serviced packages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485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Digitally signed binaries and source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485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Compliance artifacts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485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9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Lightwell carries patches not yet accepted upstream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677" name="Google Shape;677;p63"/>
          <p:cNvSpPr txBox="1"/>
          <p:nvPr/>
        </p:nvSpPr>
        <p:spPr>
          <a:xfrm>
            <a:off x="6071800" y="3429009"/>
            <a:ext cx="4324800" cy="27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EE0000"/>
                </a:solidFill>
                <a:latin typeface="Red Hat Text"/>
                <a:ea typeface="Red Hat Text"/>
                <a:cs typeface="Red Hat Text"/>
                <a:sym typeface="Red Hat Text"/>
              </a:rPr>
              <a:t>Lightwell Network Clearinghouse - FSI </a:t>
            </a:r>
            <a:endParaRPr b="1" sz="1300">
              <a:solidFill>
                <a:srgbClr val="EE0000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In addition to a</a:t>
            </a: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ll benefits of</a:t>
            </a: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 Lightwell Network</a:t>
            </a: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, customers receive access to: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"/>
              <a:buChar char="▶"/>
            </a:pPr>
            <a:r>
              <a:rPr b="1"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Vulnerability reporting and remediation</a:t>
            </a: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 for member specific package versions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Novel vulnerability verification and disclosure handling 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Requests may be anonymized and shared with other vertical members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Security TAM 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Mythos scanning and triage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Red Hat Text"/>
              <a:buChar char="○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Additional scanning options in the future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0" marL="320040" rtl="0" algn="l"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100"/>
              <a:buFont typeface="Red Hat Text"/>
              <a:buChar char="▶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All fixes released to: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1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Red Hat Text"/>
              <a:buChar char="○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Other vertical members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1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Red Hat Text"/>
              <a:buChar char="○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Lightwell Network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161290" lvl="1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Red Hat Text"/>
              <a:buChar char="○"/>
            </a:pPr>
            <a:r>
              <a:rPr lang="en" sz="1100">
                <a:solidFill>
                  <a:srgbClr val="333333"/>
                </a:solidFill>
                <a:latin typeface="Red Hat Text"/>
                <a:ea typeface="Red Hat Text"/>
                <a:cs typeface="Red Hat Text"/>
                <a:sym typeface="Red Hat Text"/>
              </a:rPr>
              <a:t>Upstream open source projects</a:t>
            </a:r>
            <a:endParaRPr sz="1100">
              <a:solidFill>
                <a:srgbClr val="333333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64" title="backgrounds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721" y="0"/>
            <a:ext cx="357634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64"/>
          <p:cNvSpPr txBox="1"/>
          <p:nvPr>
            <p:ph idx="1" type="subTitle"/>
          </p:nvPr>
        </p:nvSpPr>
        <p:spPr>
          <a:xfrm rot="5400000">
            <a:off x="-2126325" y="2126100"/>
            <a:ext cx="5139600" cy="887400"/>
          </a:xfrm>
          <a:prstGeom prst="rect">
            <a:avLst/>
          </a:prstGeom>
        </p:spPr>
        <p:txBody>
          <a:bodyPr anchorCtr="0" anchor="ctr" bIns="91425" lIns="5029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Red Hat Services</a:t>
            </a:r>
            <a:endParaRPr/>
          </a:p>
        </p:txBody>
      </p:sp>
      <p:sp>
        <p:nvSpPr>
          <p:cNvPr id="684" name="Google Shape;684;p64"/>
          <p:cNvSpPr txBox="1"/>
          <p:nvPr>
            <p:ph type="title"/>
          </p:nvPr>
        </p:nvSpPr>
        <p:spPr>
          <a:xfrm>
            <a:off x="5660525" y="568625"/>
            <a:ext cx="5736300" cy="19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685" name="Google Shape;685;p64"/>
          <p:cNvSpPr txBox="1"/>
          <p:nvPr>
            <p:ph idx="2" type="subTitle"/>
          </p:nvPr>
        </p:nvSpPr>
        <p:spPr>
          <a:xfrm>
            <a:off x="5660525" y="2752400"/>
            <a:ext cx="4446300" cy="152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 Hat is the world’s leading provider of enterprise open source software solutions. Award-winning support, training, and consulting services make Red Hat a trusted adviser to the Fortune 500.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A critical CVE's six weeks were never the rebuild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3450031" cy="2834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20240"/>
            <a:ext cx="29013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1515"/>
                </a:solidFill>
                <a:latin typeface="Red Hat Display"/>
              </a:rPr>
              <a:t>4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32888"/>
            <a:ext cx="29013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A6E73"/>
                </a:solidFill>
                <a:latin typeface="Red Hat Text"/>
              </a:rPr>
              <a:t>THE REBUILD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26080"/>
            <a:ext cx="290139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Maven did its job. Rebuilding was never the cost.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4431" y="1600200"/>
            <a:ext cx="3450031" cy="2834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8751" y="1920240"/>
            <a:ext cx="29013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E0000"/>
                </a:solidFill>
                <a:latin typeface="Red Hat Display"/>
              </a:rPr>
              <a:t>6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8751" y="2532888"/>
            <a:ext cx="29013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A6E73"/>
                </a:solidFill>
                <a:latin typeface="Red Hat Text"/>
              </a:rPr>
              <a:t>REGRESSION +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8751" y="2926080"/>
            <a:ext cx="290139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The full suite ran because nobody could say what changed; the change board waited on proof that didn't exist.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0222" y="1600200"/>
            <a:ext cx="3450031" cy="2834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4542" y="1920240"/>
            <a:ext cx="290139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51515"/>
                </a:solidFill>
                <a:latin typeface="Red Hat Display"/>
              </a:rPr>
              <a:t>0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4542" y="2532888"/>
            <a:ext cx="290139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A6E73"/>
                </a:solidFill>
                <a:latin typeface="Red Hat Text"/>
              </a:rPr>
              <a:t>SIZE THE BILL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4542" y="2926080"/>
            <a:ext cx="290139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Scanners say “upgrade.” Test selectors key off your commits. Nobody prices the upgrade itself.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1108161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51515"/>
                </a:solidFill>
                <a:latin typeface="Red Hat Text"/>
              </a:rPr>
              <a:t>The question no one can answer today:  </a:t>
            </a:r>
            <a:r>
              <a:rPr sz="1600" b="0" i="1">
                <a:solidFill>
                  <a:srgbClr val="A30000"/>
                </a:solidFill>
                <a:latin typeface="Red Hat Text"/>
              </a:rPr>
              <a:t>“This upgrade fixes the CVE — how much of my test suite does it owe, and can I prove that number to my change board?”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THE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Same CVE, two artifacts — the difference,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8161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A6E73"/>
                </a:solidFill>
                <a:latin typeface="Red Hat Text"/>
              </a:rPr>
              <a:t>Both cards measured on real artifacts. Right card: Lightwell's actual rebuild of jackson-databind, analyzed against the community 2.13.4 with your authenticated pull.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4946446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874519"/>
            <a:ext cx="7772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3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 b="1">
                <a:solidFill>
                  <a:srgbClr val="A30000"/>
                </a:solidFill>
                <a:latin typeface="Red Hat Display"/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901952"/>
            <a:ext cx="33919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51515"/>
                </a:solidFill>
                <a:latin typeface="Red Hat Text"/>
              </a:rPr>
              <a:t>Community forward upgrade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212848"/>
            <a:ext cx="33919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A6E73"/>
                </a:solidFill>
                <a:latin typeface="Consolas"/>
              </a:rPr>
              <a:t>jackson-databind 2.13.4 → 2.15.x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430636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A minor-version jump on one of the most reflection- and annotation-heavy libraries in the ecosystem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Real API surface movement your app may call; the community path owes broad regression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3C3F42"/>
                </a:solidFill>
                <a:latin typeface="Red Hat Text"/>
              </a:rPr>
              <a:t>Verdict: </a:t>
            </a:r>
            <a:r>
              <a:rPr sz="1250" b="1">
                <a:solidFill>
                  <a:srgbClr val="A30000"/>
                </a:solidFill>
                <a:latin typeface="Red Hat Text"/>
              </a:rPr>
              <a:t>high test burden — the upgrade you postpone because you cannot size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6526" y="292608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6A6E73"/>
                </a:solidFill>
                <a:latin typeface="Red Hat Display"/>
              </a:rPr>
              <a:t>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83806" y="1554480"/>
            <a:ext cx="4946446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03846" y="1874519"/>
            <a:ext cx="77724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3E8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3400" b="1">
                <a:solidFill>
                  <a:srgbClr val="3E8635"/>
                </a:solidFill>
                <a:latin typeface="Red Hat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9686" y="1901952"/>
            <a:ext cx="33919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51515"/>
                </a:solidFill>
                <a:latin typeface="Red Hat Text"/>
              </a:rPr>
              <a:t>Lightwell remediated rebuild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9686" y="2212848"/>
            <a:ext cx="339196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A6E73"/>
                </a:solidFill>
                <a:latin typeface="Consolas"/>
              </a:rPr>
              <a:t>jackson-databind 2.13.4 → 2.13.4.redhat-00001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3846" y="2788920"/>
            <a:ext cx="430636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0 removed · 0 binary-incompatible · 0.3% semantic churn across 708 classes — measured on the real rebuild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Same base version 2.13.4 rebuilt with the CVE fix: drop-in suffix swap, no version bump, no code change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3C3F42"/>
                </a:solidFill>
                <a:latin typeface="Red Hat Text"/>
              </a:rPr>
              <a:t>Verdict: </a:t>
            </a:r>
            <a:r>
              <a:rPr sz="1250" b="1">
                <a:solidFill>
                  <a:srgbClr val="3E8635"/>
                </a:solidFill>
                <a:latin typeface="Red Hat Text"/>
              </a:rPr>
              <a:t>targeted tests + canary — the drop-in path, measured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1108161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51515"/>
                </a:solidFill>
                <a:latin typeface="Red Hat Text"/>
              </a:rPr>
              <a:t>The six-week difference was never the code — it was which artifact you sourced. </a:t>
            </a:r>
            <a:r>
              <a:rPr sz="1500" b="1">
                <a:solidFill>
                  <a:srgbClr val="151515"/>
                </a:solidFill>
                <a:latin typeface="Red Hat Text"/>
              </a:rPr>
              <a:t>Lightwell's rebuild discipline stops being a claim and becomes a number you recompute on your own machine.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upgrade-delta: five stages, five verifiable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8161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A6E73"/>
                </a:solidFill>
                <a:latin typeface="Red Hat Text"/>
              </a:rPr>
              <a:t>Each stage is useful without the ones after it — adopt incrementally.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909084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15433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E0000"/>
                </a:solidFill>
                <a:latin typeface="Consolas"/>
              </a:rPr>
              <a:t>analyze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15433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delta report +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10128"/>
            <a:ext cx="15433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6E73"/>
                </a:solidFill>
                <a:latin typeface="Red Hat Text"/>
              </a:rPr>
              <a:t>publisher · once per version pair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03444" y="2743200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41772" y="1828800"/>
            <a:ext cx="1909084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4652" y="2029968"/>
            <a:ext cx="15433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E0000"/>
                </a:solidFill>
                <a:latin typeface="Consolas"/>
              </a:rPr>
              <a:t>publish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4652" y="2487168"/>
            <a:ext cx="15433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rated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4652" y="3310128"/>
            <a:ext cx="15433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6E73"/>
                </a:solidFill>
                <a:latin typeface="Red Hat Text"/>
              </a:rPr>
              <a:t>shipped with every artifact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96576" y="2743200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34904" y="1828800"/>
            <a:ext cx="1909084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7784" y="2029968"/>
            <a:ext cx="15433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E0000"/>
                </a:solidFill>
                <a:latin typeface="Consolas"/>
              </a:rPr>
              <a:t>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7784" y="2487168"/>
            <a:ext cx="15433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project scorecard
+ routing payload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7784" y="3310128"/>
            <a:ext cx="15433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6E73"/>
                </a:solidFill>
                <a:latin typeface="Red Hat Text"/>
              </a:rPr>
              <a:t>customer CI · code never leaves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89708" y="2743200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28036" y="1828800"/>
            <a:ext cx="1909084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0916" y="2029968"/>
            <a:ext cx="15433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E0000"/>
                </a:solidFill>
                <a:latin typeface="Consolas"/>
              </a:rPr>
              <a:t>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0916" y="2487168"/>
            <a:ext cx="15433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named test list
+ deploy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0916" y="3310128"/>
            <a:ext cx="15433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6E73"/>
                </a:solidFill>
                <a:latin typeface="Red Hat Text"/>
              </a:rPr>
              <a:t>joins YOUR coverage map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2841" y="2743200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21169" y="1828800"/>
            <a:ext cx="1909084" cy="21488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4049" y="2029968"/>
            <a:ext cx="15433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E0000"/>
                </a:solidFill>
                <a:latin typeface="Consolas"/>
              </a:rPr>
              <a:t>cd-gate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4049" y="2487168"/>
            <a:ext cx="15433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promotion 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4049" y="3310128"/>
            <a:ext cx="15433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A6E73"/>
                </a:solidFill>
                <a:latin typeface="Red Hat Text"/>
              </a:rPr>
              <a:t>closes open obligations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343400"/>
            <a:ext cx="11081613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151515"/>
                </a:solidFill>
                <a:latin typeface="Red Hat Text"/>
              </a:rPr>
              <a:t>The trust boundary is the architecture:  </a:t>
            </a:r>
            <a:r>
              <a:rPr sz="1350" b="0">
                <a:solidFill>
                  <a:srgbClr val="3C3F42"/>
                </a:solidFill>
                <a:latin typeface="Red Hat Text"/>
              </a:rPr>
              <a:t>evidence flows down, code never flows up. Analysis runs once at publish time, app-agnostic; the customer's CI runs only the intersection with their own bytecode, locally — air-gapped by construction.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6A6E73"/>
                </a:solidFill>
                <a:latin typeface="Red Hat Text"/>
              </a:rPr>
              <a:t>Every artifact is machine-readable JSON with a published schema — the files are the product; the tooling is plumbing around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WHAT WE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Four signals per upgrade — and a churn number that survives skeptics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496083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83080"/>
            <a:ext cx="2093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1515"/>
                </a:solidFill>
                <a:latin typeface="Red Hat Display"/>
              </a:rPr>
              <a:t>API delta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40280"/>
            <a:ext cx="209374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Public members removed / added / modified, binary-incompatible changes isolated.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0483" y="1554480"/>
            <a:ext cx="2496083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651" y="1783080"/>
            <a:ext cx="2093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1515"/>
                </a:solidFill>
                <a:latin typeface="Red Hat Display"/>
              </a:rPr>
              <a:t>Semantic churn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651" y="2240280"/>
            <a:ext cx="209374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% of shared classes whose behavior changed — debug info, pool ordering and stack frames stripped; bytecode walked instruction-by-instruction.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326" y="1554480"/>
            <a:ext cx="2496083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494" y="1783080"/>
            <a:ext cx="2093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1515"/>
                </a:solidFill>
                <a:latin typeface="Red Hat Display"/>
              </a:rPr>
              <a:t>Behavior surface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494" y="2240280"/>
            <a:ext cx="209374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Bundled defaults, resources, SPI registrations — the deserialization/config class of change: zero API movement, big behavior shift.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34170" y="1554480"/>
            <a:ext cx="2496083" cy="228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5338" y="1783080"/>
            <a:ext cx="209374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1515"/>
                </a:solidFill>
                <a:latin typeface="Red Hat Display"/>
              </a:rPr>
              <a:t>Stream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5338" y="2240280"/>
            <a:ext cx="209374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z / y / x from the version numbers — the prior on intent, verified against the evidence, never trusted alone.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11081613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51515"/>
                </a:solidFill>
                <a:latin typeface="Red Hat Text"/>
              </a:rPr>
              <a:t>Proven live: 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6A6E73"/>
                </a:solidFill>
                <a:latin typeface="Red Hat Text"/>
              </a:rPr>
              <a:t>identical source, two toolchains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325112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6A6E73"/>
                </a:solidFill>
                <a:latin typeface="Red Hat Display"/>
              </a:rPr>
              <a:t>100%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A6E73"/>
                </a:solidFill>
                <a:latin typeface="Red Hat Text"/>
              </a:rPr>
              <a:t>raw byte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25112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3E8635"/>
                </a:solidFill>
                <a:latin typeface="Red Hat Display"/>
              </a:rPr>
              <a:t>0.0%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A6E73"/>
                </a:solidFill>
                <a:latin typeface="Red Hat Text"/>
              </a:rPr>
              <a:t>semantic churn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361688"/>
            <a:ext cx="239481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A real one-method edit still reads 6.2%. Unparseable input falls back to raw hashing — the metric can over-report, it structurally cannot under-report.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THE 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A–F maps change to a test lane — escalation is automatic, de-escalation is signed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7424013" cy="6583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36776"/>
            <a:ext cx="420624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3E8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3E8635"/>
                </a:solidFill>
                <a:latin typeface="Red Hat Display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591056"/>
            <a:ext cx="3977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Disciplined patch: no API change, minimal churn, no default/SPI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591056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51515"/>
                </a:solidFill>
                <a:latin typeface="Red Hat Text"/>
              </a:rPr>
              <a:t>Fast lane: smoke + canary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76856"/>
            <a:ext cx="7424013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404872"/>
            <a:ext cx="420624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99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995C00"/>
                </a:solidFill>
                <a:latin typeface="Red Hat Display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359151"/>
            <a:ext cx="3977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Patch with added surface, heavy churn, or shipped-default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359151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51515"/>
                </a:solidFill>
                <a:latin typeface="Red Hat Text"/>
              </a:rPr>
              <a:t>Targeted tests + canary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44952"/>
            <a:ext cx="7424013" cy="6583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9808" y="3172968"/>
            <a:ext cx="420624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99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995C00"/>
                </a:solidFill>
                <a:latin typeface="Red Hat Display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127248"/>
            <a:ext cx="3977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Minor release, no incompatibilities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127248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51515"/>
                </a:solidFill>
                <a:latin typeface="Red Hat Text"/>
              </a:rPr>
              <a:t>Partial regression + boot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13048"/>
            <a:ext cx="7424013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8" y="3941063"/>
            <a:ext cx="420624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3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A30000"/>
                </a:solidFill>
                <a:latin typeface="Red Hat Display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19" y="3895344"/>
            <a:ext cx="3977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Binary-incompatible changes, or a major release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895344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51515"/>
                </a:solidFill>
                <a:latin typeface="Red Hat Text"/>
              </a:rPr>
              <a:t>Full regression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81144"/>
            <a:ext cx="7424013" cy="6583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4709159"/>
            <a:ext cx="420624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3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700" b="1">
                <a:solidFill>
                  <a:srgbClr val="A30000"/>
                </a:solidFill>
                <a:latin typeface="Red Hat Display"/>
              </a:rPr>
              <a:t>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4663440"/>
            <a:ext cx="397763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Incompatible changes your app provably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66344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51515"/>
                </a:solidFill>
                <a:latin typeface="Red Hat Text"/>
              </a:rPr>
              <a:t>Migration first, then full regression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46973" y="1508760"/>
            <a:ext cx="3383280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21293" y="1764792"/>
            <a:ext cx="2834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151515"/>
                </a:solidFill>
                <a:latin typeface="Red Hat Text"/>
              </a:rPr>
              <a:t>The asymmetry is the point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3C3F42"/>
                </a:solidFill>
                <a:latin typeface="Red Hat Text"/>
              </a:rPr>
              <a:t>A “patch” with 50% churn is escalated with no ceremony.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3C3F42"/>
                </a:solidFill>
                <a:latin typeface="Red Hat Text"/>
              </a:rPr>
              <a:t>De-escalation is only ever suggested — and for transitives it requires an explicit sign-off flag, recorded on the sealed report.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A30000"/>
                </a:solidFill>
                <a:latin typeface="Red Hat Text"/>
              </a:rPr>
              <a:t>Over-testing wastes hours. Under-testing ships an outage with an audit trail saying a tool approved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THE PROJECT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One scorecard, two audiences — risk flattened, work rolled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4937760" cy="42062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55648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6A6E73"/>
                </a:solidFill>
                <a:latin typeface="Red Hat Text"/>
              </a:rPr>
              <a:t>PAYMENTS-SERVICE · SCORECARD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2103120"/>
            <a:ext cx="6400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99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800" b="1">
                <a:solidFill>
                  <a:srgbClr val="995C00"/>
                </a:solidFill>
                <a:latin typeface="Red Hat Display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121408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with backport paths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would be </a:t>
            </a:r>
            <a:r>
              <a:rPr sz="1300" b="1">
                <a:solidFill>
                  <a:srgbClr val="A30000"/>
                </a:solidFill>
                <a:latin typeface="Red Hat Text"/>
              </a:rPr>
              <a:t>F</a:t>
            </a:r>
            <a:r>
              <a:rPr sz="1150" b="0">
                <a:solidFill>
                  <a:srgbClr val="3C3F42"/>
                </a:solidFill>
                <a:latin typeface="Red Hat Text"/>
              </a:rPr>
              <a:t> without them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1752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6A6E73"/>
                </a:solidFill>
                <a:latin typeface="Red Hat Text"/>
              </a:rPr>
              <a:t>TEST-EFFORT BUDGET TO GET 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8327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C3F42"/>
                </a:solidFill>
                <a:latin typeface="Red Hat Text"/>
              </a:rPr>
              <a:t>Fast lane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3401568"/>
            <a:ext cx="777240" cy="219456"/>
          </a:xfrm>
          <a:prstGeom prst="rect">
            <a:avLst/>
          </a:prstGeom>
          <a:solidFill>
            <a:srgbClr val="3E8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338327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A6E73"/>
                </a:solidFill>
                <a:latin typeface="Red Hat Tex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840479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C3F42"/>
                </a:solidFill>
                <a:latin typeface="Red Hat Text"/>
              </a:rPr>
              <a:t>Targeted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3858767"/>
            <a:ext cx="777240" cy="219456"/>
          </a:xfrm>
          <a:prstGeom prst="rect">
            <a:avLst/>
          </a:prstGeom>
          <a:solidFill>
            <a:srgbClr val="99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3858767"/>
            <a:ext cx="777240" cy="219456"/>
          </a:xfrm>
          <a:prstGeom prst="rect">
            <a:avLst/>
          </a:prstGeom>
          <a:solidFill>
            <a:srgbClr val="99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13048" y="3858767"/>
            <a:ext cx="777240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995C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384047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A6E73"/>
                </a:solidFill>
                <a:latin typeface="Red Hat Text"/>
              </a:rPr>
              <a:t>3  (1 transitive)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480559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A6E73"/>
                </a:solidFill>
                <a:latin typeface="Red Hat Text"/>
              </a:rPr>
              <a:t>solid = direct · outline = transitive, counted at full 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892040"/>
            <a:ext cx="4389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151515"/>
                </a:solidFill>
                <a:latin typeface="Consolas"/>
              </a:rPr>
              <a:t>↳ acme-codec </a:t>
            </a:r>
            <a:r>
              <a:rPr sz="1050" b="0">
                <a:solidFill>
                  <a:srgbClr val="6A6E73"/>
                </a:solidFill>
                <a:latin typeface="Red Hat Text"/>
              </a:rPr>
              <a:t>via acme-http-client · fix lever: bump the parent or pin an override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A30000"/>
                </a:solidFill>
                <a:latin typeface="Red Hat Text"/>
              </a:rPr>
              <a:t>unrated: com.acme.xml — an upgrade you'd test blind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554480"/>
            <a:ext cx="56866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51515"/>
                </a:solidFill>
                <a:latin typeface="Red Hat Display"/>
              </a:rPr>
              <a:t>Never an average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883664"/>
            <a:ext cx="568665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The headline is the worst pending grade on the best path per library. Nineteen A's and one F is a migration-grade project.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633472"/>
            <a:ext cx="56866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51515"/>
                </a:solidFill>
                <a:latin typeface="Red Hat Display"/>
              </a:rPr>
              <a:t>Risk never rolls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962656"/>
            <a:ext cx="568665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A transitive counts at full weight — anything else is risk laundering. Only the work plan nests under the parent.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712463"/>
            <a:ext cx="56866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51515"/>
                </a:solidFill>
                <a:latin typeface="Red Hat Display"/>
              </a:rPr>
              <a:t>The gap is the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041648"/>
            <a:ext cx="568665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B with the backport paths, F without: the subscription's value, measured per project, on the customer's own code.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791456"/>
            <a:ext cx="56866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51515"/>
                </a:solidFill>
                <a:latin typeface="Red Hat Display"/>
              </a:rPr>
              <a:t>Whitespace is visible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120640"/>
            <a:ext cx="568665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Every dependency without a delta report is named — each one is a coverage conversation.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ENTERPRISE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Precise enough to de-escalate, honest about what it can't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12206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4763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51515"/>
                </a:solidFill>
                <a:latin typeface="Red Hat Display"/>
              </a:rPr>
              <a:t>Method-level reachability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240280"/>
            <a:ext cx="4763566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>
                <a:solidFill>
                  <a:srgbClr val="3C3F42"/>
                </a:solidFill>
                <a:latin typeface="Red Hat Text"/>
              </a:rPr>
              <a:t>The trap: </a:t>
            </a:r>
            <a:r>
              <a:rPr sz="1200" b="0">
                <a:solidFill>
                  <a:srgbClr val="3C3F42"/>
                </a:solidFill>
                <a:latin typeface="Red Hat Text"/>
              </a:rPr>
              <a:t>a debug method the app never calls reaches a transitive's removed member.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3C3F42"/>
                </a:solidFill>
                <a:latin typeface="Red Hat Text"/>
              </a:rPr>
              <a:t>Class-granular analysis </a:t>
            </a:r>
            <a:r>
              <a:rPr sz="1200" b="1">
                <a:solidFill>
                  <a:srgbClr val="A30000"/>
                </a:solidFill>
                <a:latin typeface="Red Hat Text"/>
              </a:rPr>
              <a:t>would flag it</a:t>
            </a:r>
            <a:r>
              <a:rPr sz="1200" b="0">
                <a:solidFill>
                  <a:srgbClr val="3C3F42"/>
                </a:solidFill>
                <a:latin typeface="Red Hat Text"/>
              </a:rPr>
              <a:t> and kill a legitimate de-escalation — on real frameworks, one touch of a god-class inflates every blast radius.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3C3F42"/>
                </a:solidFill>
                <a:latin typeface="Red Hat Text"/>
              </a:rPr>
              <a:t>Method-granular walks caller → callee edges from the bytecode and proves the path unreached. The sign-off survives </a:t>
            </a:r>
            <a:r>
              <a:rPr sz="1200" b="0" i="1">
                <a:solidFill>
                  <a:srgbClr val="3C3F42"/>
                </a:solidFill>
                <a:latin typeface="Red Hat Text"/>
              </a:rPr>
              <a:t>because</a:t>
            </a:r>
            <a:r>
              <a:rPr sz="1200" b="0">
                <a:solidFill>
                  <a:srgbClr val="3C3F42"/>
                </a:solidFill>
                <a:latin typeface="Red Hat Text"/>
              </a:rPr>
              <a:t> the analysis got sharper — and the report prints both numbers.</a:t>
            </a:r>
          </a:p>
          <a:p>
            <a:pPr algn="l">
              <a:spcAft>
                <a:spcPts val="900"/>
              </a:spcAft>
            </a:pPr>
            <a:r>
              <a:rPr sz="1050" b="0">
                <a:solidFill>
                  <a:srgbClr val="6A6E73"/>
                </a:solidFill>
                <a:latin typeface="Consolas"/>
              </a:rPr>
              <a:t>app → HttpClient.execute → Retry.run → Base64Codec.encode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18046" y="1554480"/>
            <a:ext cx="5312206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2366" y="1783080"/>
            <a:ext cx="476356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51515"/>
                </a:solidFill>
                <a:latin typeface="Red Hat Display"/>
              </a:rPr>
              <a:t>Any packaging — and the map-vs-territory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2366" y="2240280"/>
            <a:ext cx="4763566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3C3F42"/>
                </a:solidFill>
                <a:latin typeface="Red Hat Text"/>
              </a:rPr>
              <a:t>Thin jar, ten-module reactor, or shaded uber jar: same scan, same grade. Bundled dependency internals are excluded from </a:t>
            </a:r>
            <a:r>
              <a:rPr sz="1200" b="0" i="1">
                <a:solidFill>
                  <a:srgbClr val="3C3F42"/>
                </a:solidFill>
                <a:latin typeface="Red Hat Text"/>
              </a:rPr>
              <a:t>your</a:t>
            </a:r>
            <a:r>
              <a:rPr sz="1200" b="0">
                <a:solidFill>
                  <a:srgbClr val="3C3F42"/>
                </a:solidFill>
                <a:latin typeface="Red Hat Text"/>
              </a:rPr>
              <a:t> code's view.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3C3F42"/>
                </a:solidFill>
                <a:latin typeface="Red Hat Text"/>
              </a:rPr>
              <a:t>The SBOM is the map; the artifact is the territory. Disagreement is a finding:</a:t>
            </a:r>
          </a:p>
          <a:p>
            <a:pPr algn="l">
              <a:spcAft>
                <a:spcPts val="900"/>
              </a:spcAft>
            </a:pPr>
            <a:r>
              <a:rPr sz="1050" b="0">
                <a:solidFill>
                  <a:srgbClr val="A30000"/>
                </a:solidFill>
                <a:latin typeface="Consolas"/>
              </a:rPr>
              <a:t>HAZARD  declared-not-shipped · version-drift</a:t>
            </a:r>
          </a:p>
          <a:p>
            <a:pPr algn="l">
              <a:spcAft>
                <a:spcPts val="900"/>
              </a:spcAft>
            </a:pPr>
            <a:r>
              <a:rPr sz="1050" b="0">
                <a:solidFill>
                  <a:srgbClr val="A30000"/>
                </a:solidFill>
                <a:latin typeface="Consolas"/>
              </a:rPr>
              <a:t>HAZARD  relocated shaded copy — classpath roulette,
        invisible to version-based remediation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3C3F42"/>
                </a:solidFill>
                <a:latin typeface="Red Hat Text"/>
              </a:rPr>
              <a:t>Config &amp; reflection heuristics turn the cheap slice of the blind spot into visible “treat as reachable” rows — and every report still prints what it cannot see.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CLOSING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From affected code to a named test list — and an honest handoff to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2482367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00784"/>
            <a:ext cx="2116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E0000"/>
                </a:solidFill>
                <a:latin typeface="Consolas"/>
              </a:rPr>
              <a:t>routing.json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1166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C3F42"/>
                </a:solidFill>
                <a:latin typeface="Red Hat Text"/>
              </a:rPr>
              <a:t>affected code,
never test names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76727" y="2103120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5055" y="1536192"/>
            <a:ext cx="2482367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7935" y="1700784"/>
            <a:ext cx="2116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E0000"/>
                </a:solidFill>
                <a:latin typeface="Consolas"/>
              </a:rPr>
              <a:t>coverage join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7935" y="2103120"/>
            <a:ext cx="21166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C3F42"/>
                </a:solidFill>
                <a:latin typeface="Red Hat Text"/>
              </a:rPr>
              <a:t>your JaCoCo map,
with provenance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142" y="2103120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470" y="1536192"/>
            <a:ext cx="2482367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350" y="1700784"/>
            <a:ext cx="2116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E0000"/>
                </a:solidFill>
                <a:latin typeface="Consolas"/>
              </a:rPr>
              <a:t>8 of 11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350" y="2103120"/>
            <a:ext cx="21166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C3F42"/>
                </a:solidFill>
                <a:latin typeface="Red Hat Text"/>
              </a:rPr>
              <a:t>every RUN and skip
carries a reason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809558" y="2103120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7886" y="1536192"/>
            <a:ext cx="2482367" cy="13258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0766" y="1700784"/>
            <a:ext cx="211660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E0000"/>
                </a:solidFill>
                <a:latin typeface="Consolas"/>
              </a:rPr>
              <a:t>deploy-gate.json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30766" y="2103120"/>
            <a:ext cx="211660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3C3F42"/>
                </a:solidFill>
                <a:latin typeface="Red Hat Text"/>
              </a:rPr>
              <a:t>canary: OPEN —
CD closes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82112"/>
            <a:ext cx="11081613" cy="155448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364992"/>
            <a:ext cx="1044153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8FE88F"/>
                </a:solidFill>
                <a:latin typeface="Consolas"/>
              </a:rPr>
              <a:t>RUN CheckoutIT</a:t>
            </a:r>
            <a:r>
              <a:rPr sz="1100" b="0">
                <a:solidFill>
                  <a:srgbClr val="FFFFFF"/>
                </a:solidFill>
                <a:latin typeface="Consolas"/>
              </a:rPr>
              <a:t>   covers GatewayClient ← acme-codec 1.11→1.15 [two-hop, signed-off]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8FE88F"/>
                </a:solidFill>
                <a:latin typeface="Consolas"/>
              </a:rPr>
              <a:t>RUN MetricsTest</a:t>
            </a:r>
            <a:r>
              <a:rPr sz="1100" b="0">
                <a:solidFill>
                  <a:srgbClr val="FFFFFF"/>
                </a:solidFill>
                <a:latin typeface="Consolas"/>
              </a:rPr>
              <a:t>   absent from coverage map — unknown means run</a:t>
            </a:r>
          </a:p>
          <a:p>
            <a:pPr algn="l">
              <a:spcAft>
                <a:spcPts val="700"/>
              </a:spcAft>
            </a:pPr>
            <a:r>
              <a:rPr sz="1100" b="1">
                <a:solidFill>
                  <a:srgbClr val="FFD566"/>
                </a:solidFill>
                <a:latin typeface="Consolas"/>
              </a:rPr>
              <a:t>RUN BootSmokeIT</a:t>
            </a:r>
            <a:r>
              <a:rPr sz="1100" b="0">
                <a:solidFill>
                  <a:srgbClr val="FFFFFF"/>
                </a:solidFill>
                <a:latin typeface="Consolas"/>
              </a:rPr>
              <a:t>   mandatory @Tag("upgrade-gate") — runs even if the join selects nothing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10912"/>
            <a:ext cx="1108161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51515"/>
                </a:solidFill>
                <a:latin typeface="Red Hat Text"/>
              </a:rPr>
              <a:t>The build never claims it ran the canary. </a:t>
            </a:r>
            <a:r>
              <a:rPr sz="1300" b="0">
                <a:solidFill>
                  <a:srgbClr val="3C3F42"/>
                </a:solidFill>
                <a:latin typeface="Red Hat Text"/>
              </a:rPr>
              <a:t>It attests what ran and emits the rest as OPEN obligations; a separate process at deploy time consumes the gate file and refuses to promote until they close. One unbroken, truthful chain — that is what a change board actually signs.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DESIGNED TO FAIL LOUDLY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The only permitted failures: too many tests, a failed build, a blocked deploy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081613" cy="6217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73352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1515"/>
                </a:solidFill>
                <a:latin typeface="Red Hat Text"/>
              </a:rPr>
              <a:t>Coverage map stale or unreadable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9" y="1673352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Full suite runs, with the refusal reason on every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1673352"/>
            <a:ext cx="1188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30000"/>
                </a:solidFill>
                <a:latin typeface="Consolas"/>
              </a:rPr>
              <a:t>loud fallback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13432"/>
            <a:ext cx="11081613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86584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1515"/>
                </a:solidFill>
                <a:latin typeface="Red Hat Text"/>
              </a:rPr>
              <a:t>Test absent from the coverage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2386584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It runs — unknown always means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386584"/>
            <a:ext cx="1188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30000"/>
                </a:solidFill>
                <a:latin typeface="Consolas"/>
              </a:rPr>
              <a:t>no silent skips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26664"/>
            <a:ext cx="11081613" cy="6217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099816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1515"/>
                </a:solidFill>
                <a:latin typeface="Red Hat Text"/>
              </a:rPr>
              <a:t>Mandatory gate test untagged / renamed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3099816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Hard build failure naming the stale declaration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3099816"/>
            <a:ext cx="1188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30000"/>
                </a:solidFill>
                <a:latin typeface="Consolas"/>
              </a:rPr>
              <a:t>exit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39896"/>
            <a:ext cx="11081613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813048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1515"/>
                </a:solidFill>
                <a:latin typeface="Red Hat Text"/>
              </a:rPr>
              <a:t>Project grade breaches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3813048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CI gate fails — same project passes only with a recorded sign-off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3813048"/>
            <a:ext cx="1188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30000"/>
                </a:solidFill>
                <a:latin typeface="Consolas"/>
              </a:rPr>
              <a:t>exit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53128"/>
            <a:ext cx="11081613" cy="621792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526280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1515"/>
                </a:solidFill>
                <a:latin typeface="Red Hat Text"/>
              </a:rPr>
              <a:t>Deploy attempted without a gate 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4526280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Promotion blocked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4526280"/>
            <a:ext cx="1188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30000"/>
                </a:solidFill>
                <a:latin typeface="Consolas"/>
              </a:rPr>
              <a:t>exit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66360"/>
            <a:ext cx="11081613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5239512"/>
            <a:ext cx="42062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51515"/>
                </a:solidFill>
                <a:latin typeface="Red Hat Text"/>
              </a:rPr>
              <a:t>Sealed evidence edited after the fact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5239512"/>
            <a:ext cx="5120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Verification fails — a B changed to an A is caught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5239512"/>
            <a:ext cx="11887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30000"/>
                </a:solidFill>
                <a:latin typeface="Consolas"/>
              </a:rPr>
              <a:t>exit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AUDIT-GRADE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The chain is sealed — and edits are caught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1471726" y="169164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5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71726" y="1819656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delta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1726" y="216712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3E8635"/>
                </a:solidFill>
                <a:latin typeface="Red Hat Text"/>
              </a:rPr>
              <a:t>✓ sealed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19982" y="2039112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94886" y="169164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5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94886" y="1819656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scorecard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94886" y="216712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3E8635"/>
                </a:solidFill>
                <a:latin typeface="Red Hat Text"/>
              </a:rPr>
              <a:t>✓ sealed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43142" y="2039112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8046" y="169164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5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046" y="1819656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selection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046" y="216712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3E8635"/>
                </a:solidFill>
                <a:latin typeface="Red Hat Text"/>
              </a:rPr>
              <a:t>✓ sealed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366302" y="2039112"/>
            <a:ext cx="292608" cy="182880"/>
          </a:xfrm>
          <a:prstGeom prst="rightArrow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41206" y="169164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15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41206" y="1819656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deploy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206" y="2167128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3E8635"/>
                </a:solidFill>
                <a:latin typeface="Red Hat Text"/>
              </a:rPr>
              <a:t>✓ sealed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880360"/>
            <a:ext cx="110816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3C3F42"/>
                </a:solidFill>
                <a:latin typeface="Red Hat Text"/>
              </a:rPr>
              <a:t>Detached Ed25519 signatures over canonical JSON — reformatting is harmless, a single value edit is fatal. Publisher seals the delta reports; the customer's CI seals the rest: two identities on one chain.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657600"/>
            <a:ext cx="8155533" cy="1371600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3840480"/>
            <a:ext cx="7515453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BBBBB"/>
                </a:solidFill>
                <a:latin typeface="Consolas"/>
              </a:rPr>
              <a:t>$ edit scorecard.json   </a:t>
            </a:r>
            <a:r>
              <a:rPr sz="1200" b="0">
                <a:solidFill>
                  <a:srgbClr val="888888"/>
                </a:solidFill>
                <a:latin typeface="Consolas"/>
              </a:rPr>
              <a:t># headline_grade: "B" → "A"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onsolas"/>
              </a:rPr>
              <a:t>$ upgrade-delta verify scorecard.json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F6B5E"/>
                </a:solidFill>
                <a:latin typeface="Consolas"/>
              </a:rPr>
              <a:t>FAILED: signature does not match content — edited after sealing  (exit 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1108161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51515"/>
                </a:solidFill>
                <a:latin typeface="Red Hat Text"/>
              </a:rPr>
              <a:t>To a change board, an unsigned JSON file is a text document. A sealed one is an audit artifact.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THE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Everyone answers half the question — the seam is unoccupied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1108161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A6E73"/>
                </a:solidFill>
                <a:latin typeface="Red Hat Text"/>
              </a:rPr>
              <a:t>Verified against public documentation, mid-2026. Re-verify before customer meetings — this market moves.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081613" cy="1097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73936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SCA platforms (Snyk, Sonatype, Endor Labs)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73936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“Should I upgrade, and how risky is it?” — Endor's Upgrade Impact Analysis is the closest neighbor and stops at a risk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9" y="1773936"/>
            <a:ext cx="294345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A30000"/>
                </a:solidFill>
                <a:latin typeface="Red Hat Text"/>
              </a:rPr>
              <a:t>No test scope. No deploy obligations. Platform findings, not sealed offline-verifiable documents.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80360"/>
            <a:ext cx="11081613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008376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ML test selection (Develocity PTS, Launchable)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08376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“Which tests for my code change?” — excellent for your commits; keep them for that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3008376"/>
            <a:ext cx="294345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A30000"/>
                </a:solidFill>
                <a:latin typeface="Red Hat Text"/>
              </a:rPr>
              <a:t>A dependency bump is a one-line diff whose real delta lives in a binary their models never see inside.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81613" cy="10972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242816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Renovate / Dependabot, japicmp / Revapi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42816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The delivery rails and the API-diff ancestors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4242816"/>
            <a:ext cx="294345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A30000"/>
                </a:solidFill>
                <a:latin typeface="Red Hat Text"/>
              </a:rPr>
              <a:t>Complements, not competitors — we comment on the PRs they open; API diff is one of our four signals.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86400"/>
            <a:ext cx="1108161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51515"/>
                </a:solidFill>
                <a:latin typeface="Red Hat Text"/>
              </a:rPr>
              <a:t>The claim to defend: </a:t>
            </a:r>
            <a:r>
              <a:rPr sz="1350" b="0">
                <a:solidFill>
                  <a:srgbClr val="3C3F42"/>
                </a:solidFill>
                <a:latin typeface="Red Hat Text"/>
              </a:rPr>
              <a:t>from chosen upgrade to deploy gate, no other tool produces a sealed, offline-verifiable chain from changed members → method-level reachability in this application → named tests with reasons → open obligations at promotion.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8893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8161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WHAT WE NEED FROM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76656"/>
            <a:ext cx="1108161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51515"/>
                </a:solidFill>
                <a:latin typeface="Red Hat Display"/>
              </a:rPr>
              <a:t>Twenty minutes, three questions — your answers decide what we build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45336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E0000"/>
                </a:solidFill>
                <a:latin typeface="Red Hat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00200"/>
            <a:ext cx="68753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1515"/>
                </a:solidFill>
                <a:latin typeface="Red Hat Display"/>
              </a:rPr>
              <a:t>When a critical CVE lands, what is your longest pole?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84248"/>
            <a:ext cx="68753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Rebuild, regression run, or approval? If it's the rebuild, this pivot is wrong too — we'd rather learn that this week.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15768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E0000"/>
                </a:solidFill>
                <a:latin typeface="Red Hat Display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70632"/>
            <a:ext cx="68753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1515"/>
                </a:solidFill>
                <a:latin typeface="Red Hat Display"/>
              </a:rPr>
              <a:t>How do you decide today how much to retest a dependency bump?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154680"/>
            <a:ext cx="68753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“Run everything, it's fast” = no market. “Run everything, it takes three weeks” = this deck.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731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EE0000"/>
                </a:solidFill>
                <a:latin typeface="Red Hat Display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41064"/>
            <a:ext cx="68753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1515"/>
                </a:solidFill>
                <a:latin typeface="Red Hat Display"/>
              </a:rPr>
              <a:t>Do you keep per-test coverage data?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325112"/>
            <a:ext cx="687537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C3F42"/>
                </a:solidFill>
                <a:latin typeface="Red Hat Text"/>
              </a:rPr>
              <a:t>Determines whether “run these 37 tests, named” is a product for you or a fantasy — we ask before we build.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29853" y="1554480"/>
            <a:ext cx="3200400" cy="3429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5885" y="1764792"/>
            <a:ext cx="26974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1">
                <a:solidFill>
                  <a:srgbClr val="151515"/>
                </a:solidFill>
                <a:latin typeface="Red Hat Text"/>
              </a:rPr>
              <a:t>Ready today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Working pipeline, verified end-to-end · fail-closed by design</a:t>
            </a:r>
          </a:p>
          <a:p>
            <a:pPr algn="l">
              <a:spcAft>
                <a:spcPts val="800"/>
              </a:spcAft>
            </a:pPr>
            <a:r>
              <a:rPr sz="1250" b="1">
                <a:solidFill>
                  <a:srgbClr val="151515"/>
                </a:solidFill>
                <a:latin typeface="Red Hat Text"/>
              </a:rPr>
              <a:t>Next, gated on your answers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3C3F42"/>
                </a:solidFill>
                <a:latin typeface="Red Hat Text"/>
              </a:rPr>
              <a:t>Full serviced-catalog run on a networked build · pilot on one of your services · Maven plugin hardening · Sigstore in 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742401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51515"/>
                </a:solidFill>
                <a:latin typeface="Red Hat Text"/>
              </a:rPr>
              <a:t>The tool sizes the risk. It doesn't abolish it </a:t>
            </a:r>
            <a:r>
              <a:rPr sz="1300" b="0">
                <a:solidFill>
                  <a:srgbClr val="3C3F42"/>
                </a:solidFill>
                <a:latin typeface="Red Hat Text"/>
              </a:rPr>
              <a:t>— the canary and the rollback never leave the plan, even at grade A. That honesty is printed on every report, on purpose.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d Hat - Expressive">
  <a:themeElements>
    <a:clrScheme name="Simple Light">
      <a:dk1>
        <a:srgbClr val="000000"/>
      </a:dk1>
      <a:lt1>
        <a:srgbClr val="FFFFFF"/>
      </a:lt1>
      <a:dk2>
        <a:srgbClr val="5F0000"/>
      </a:dk2>
      <a:lt2>
        <a:srgbClr val="A60000"/>
      </a:lt2>
      <a:accent1>
        <a:srgbClr val="EE0000"/>
      </a:accent1>
      <a:accent2>
        <a:srgbClr val="F56E6E"/>
      </a:accent2>
      <a:accent3>
        <a:srgbClr val="F56E6E"/>
      </a:accent3>
      <a:accent4>
        <a:srgbClr val="F2F2F2"/>
      </a:accent4>
      <a:accent5>
        <a:srgbClr val="63993D"/>
      </a:accent5>
      <a:accent6>
        <a:srgbClr val="F0561D"/>
      </a:accent6>
      <a:hlink>
        <a:srgbClr val="0066C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