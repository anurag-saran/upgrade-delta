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58" r:id="rId8"/>
  </p:sldIdLst>
  <p:sldSz cy="6858000" cx="12188950"/>
  <p:notesSz cx="6858000" cy="9144000"/>
  <p:embeddedFontLst>
    <p:embeddedFont>
      <p:font typeface="Red Hat Text Medium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Red Hat Display"/>
      <p:regular r:id="rId17"/>
      <p:bold r:id="rId18"/>
      <p:italic r:id="rId19"/>
      <p:boldItalic r:id="rId20"/>
    </p:embeddedFont>
    <p:embeddedFont>
      <p:font typeface="Overpass SemiBold"/>
      <p:regular r:id="rId21"/>
      <p:bold r:id="rId22"/>
      <p:italic r:id="rId23"/>
      <p:boldItalic r:id="rId24"/>
    </p:embeddedFont>
    <p:embeddedFont>
      <p:font typeface="Red Hat Tex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RedHatTextMedium-regular.fntdata"/><Relationship Id="rId10" Type="http://schemas.openxmlformats.org/officeDocument/2006/relationships/font" Target="fonts/RedHatTextMedium-bold.fntdata"/><Relationship Id="rId11" Type="http://schemas.openxmlformats.org/officeDocument/2006/relationships/font" Target="fonts/RedHatTextMedium-italic.fntdata"/><Relationship Id="rId12" Type="http://schemas.openxmlformats.org/officeDocument/2006/relationships/font" Target="fonts/RedHatTextMedium-boldItalic.fntdata"/><Relationship Id="rId13" Type="http://schemas.openxmlformats.org/officeDocument/2006/relationships/font" Target="fonts/RedHatDisplayMedium-regular.fntdata"/><Relationship Id="rId14" Type="http://schemas.openxmlformats.org/officeDocument/2006/relationships/font" Target="fonts/RedHatDisplayMedium-bold.fntdata"/><Relationship Id="rId15" Type="http://schemas.openxmlformats.org/officeDocument/2006/relationships/font" Target="fonts/RedHatDisplayMedium-italic.fntdata"/><Relationship Id="rId16" Type="http://schemas.openxmlformats.org/officeDocument/2006/relationships/font" Target="fonts/RedHatDisplayMedium-boldItalic.fntdata"/><Relationship Id="rId17" Type="http://schemas.openxmlformats.org/officeDocument/2006/relationships/font" Target="fonts/RedHatDisplay-regular.fntdata"/><Relationship Id="rId18" Type="http://schemas.openxmlformats.org/officeDocument/2006/relationships/font" Target="fonts/RedHatDisplay-bold.fntdata"/><Relationship Id="rId19" Type="http://schemas.openxmlformats.org/officeDocument/2006/relationships/font" Target="fonts/RedHatDisplay-italic.fntdata"/><Relationship Id="rId20" Type="http://schemas.openxmlformats.org/officeDocument/2006/relationships/font" Target="fonts/RedHatDisplay-boldItalic.fntdata"/><Relationship Id="rId21" Type="http://schemas.openxmlformats.org/officeDocument/2006/relationships/font" Target="fonts/OverpassSemiBold-regular.fntdata"/><Relationship Id="rId22" Type="http://schemas.openxmlformats.org/officeDocument/2006/relationships/font" Target="fonts/OverpassSemiBold-bold.fntdata"/><Relationship Id="rId23" Type="http://schemas.openxmlformats.org/officeDocument/2006/relationships/font" Target="fonts/OverpassSemiBold-italic.fntdata"/><Relationship Id="rId24" Type="http://schemas.openxmlformats.org/officeDocument/2006/relationships/font" Target="fonts/OverpassSemiBold-boldItalic.fntdata"/><Relationship Id="rId25" Type="http://schemas.openxmlformats.org/officeDocument/2006/relationships/font" Target="fonts/RedHatText-regular.fntdata"/><Relationship Id="rId26" Type="http://schemas.openxmlformats.org/officeDocument/2006/relationships/font" Target="fonts/RedHatText-bold.fntdata"/><Relationship Id="rId27" Type="http://schemas.openxmlformats.org/officeDocument/2006/relationships/font" Target="fonts/RedHatText-italic.fntdata"/><Relationship Id="rId28" Type="http://schemas.openxmlformats.org/officeDocument/2006/relationships/font" Target="fonts/RedHatText-boldItalic.fntdata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cad53dcf2a_0_36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cad53dcf2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6e62da0cb_1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b6e62da0cb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ad53dcf2a_0_37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cad53dcf2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reframe: the rebuild is cheap; the regression run and the approval are where the six weeks live. No tool on the market prices that.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commercial heart. The tool would report an unflattering number just as readily — that is what makes the flattering one credible.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publisher/consumer split — for regulated customers 'your code never leaves' is the entry ticket, not a feature.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churn beat exists for the most skeptical engineer in the room: hash two identical builds and watch a naive tool report 100%. Ours reports zero — live.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sentence per tier is the CAB requirement — rules, not ML, because 'the model scored it 0.83' is not an audit answer.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CAB reads the top third and signs; the engineer reads the middle and knows Monday's tasks. One page, two audiences.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relocated-copy hazard reliably wins the room's lead engineers — most teams have never seen their shaded duplicates listed.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“Seven of eleven, with a reason for each” turns a shortcut into a CAB artifact. The mandatory test is declared in test source and resolved at run time — it cannot silently vanish.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cut this beat in the live demo either: tools in this category die the first time they're caught silently wrong. Every failure here is demonstrated live, on purpose.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Production path is Sigstore keyless in CI; local Ed25519 keys exist for air-gapped shops — the same customers this whole design serves.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Concede gracefully where Endor genuinely fits better (CVE-driven prioritization, one pane of glass). The candor buys more than the point costs.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on the ask, not the demo. The validation calls were the recommendation from day one — the pipeline now exists to make those conversations concrete.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8" name="Google Shape;3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576850" y="4187175"/>
            <a:ext cx="222300" cy="23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578450" y="2112750"/>
            <a:ext cx="210900" cy="22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" name="Google Shape;51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pic>
        <p:nvPicPr>
          <p:cNvPr id="57" name="Google Shape;5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674" y="4162126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674" y="3470251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2674" y="2778376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2673" y="2086501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_1_2_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6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>
            <p:ph type="title"/>
          </p:nvPr>
        </p:nvSpPr>
        <p:spPr>
          <a:xfrm>
            <a:off x="5660525" y="1709025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TITLE_1_2_2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7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" name="Google Shape;74;p7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77" name="Google Shape;7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80" name="Google Shape;80;p7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4" name="Google Shape;8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_1_2_2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" name="Google Shape;90;p8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1" name="Google Shape;91;p8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>
            <p:ph type="title"/>
          </p:nvPr>
        </p:nvSpPr>
        <p:spPr>
          <a:xfrm>
            <a:off x="5660525" y="1709025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TITLE_1_2_2_1_1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1" name="Google Shape;101;p9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07" name="Google Shape;107;p9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1" name="Google Shape;11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 slide">
  <p:cSld name="TITLE_1_2_2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19" name="Google Shape;11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2" type="subTitle"/>
          </p:nvPr>
        </p:nvSpPr>
        <p:spPr>
          <a:xfrm>
            <a:off x="116920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3" type="subTitle"/>
          </p:nvPr>
        </p:nvSpPr>
        <p:spPr>
          <a:xfrm>
            <a:off x="355745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8" name="Google Shape;128;p1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1" name="Google Shape;13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out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5" name="Google Shape;135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8" name="Google Shape;13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43" name="Google Shape;143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 and subhead">
  <p:cSld name="CUSTOM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0" name="Google Shape;150;p14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1" name="Google Shape;151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14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4"/>
          <p:cNvSpPr txBox="1"/>
          <p:nvPr>
            <p:ph type="title"/>
          </p:nvPr>
        </p:nvSpPr>
        <p:spPr>
          <a:xfrm>
            <a:off x="2076025" y="1883250"/>
            <a:ext cx="7992000" cy="26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2" type="subTitle"/>
          </p:nvPr>
        </p:nvSpPr>
        <p:spPr>
          <a:xfrm>
            <a:off x="2076025" y="4711600"/>
            <a:ext cx="79920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60" name="Google Shape;160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out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67" name="Google Shape;167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75" name="Google Shape;175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 and subhead">
  <p:cSld name="CUSTOM_1_1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83" name="Google Shape;183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1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8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 txBox="1"/>
          <p:nvPr>
            <p:ph type="title"/>
          </p:nvPr>
        </p:nvSpPr>
        <p:spPr>
          <a:xfrm>
            <a:off x="2076025" y="1883250"/>
            <a:ext cx="7992000" cy="26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2" type="subTitle"/>
          </p:nvPr>
        </p:nvSpPr>
        <p:spPr>
          <a:xfrm>
            <a:off x="2076025" y="4711600"/>
            <a:ext cx="79920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5" name="Google Shape;195;p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02" name="Google Shape;202;p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">
    <p:bg>
      <p:bgPr>
        <a:noFill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2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_2">
    <p:bg>
      <p:bgPr>
        <a:solidFill>
          <a:srgbClr val="1B0D3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3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0" name="Google Shape;230;p23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_2_1">
    <p:bg>
      <p:bgPr>
        <a:solidFill>
          <a:srgbClr val="FEF0F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4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">
    <p:bg>
      <p:bgPr>
        <a:noFill/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_1">
    <p:bg>
      <p:bgPr>
        <a:solidFill>
          <a:srgbClr val="1B0D3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_1_1">
    <p:bg>
      <p:bgPr>
        <a:solidFill>
          <a:srgbClr val="FEF0F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CUSTOM_1_1_1_1_1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71" name="Google Shape;27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8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1_1_1_1_1_1_1_1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EF0F0"/>
              </a:solidFill>
            </a:endParaRPr>
          </a:p>
        </p:txBody>
      </p:sp>
      <p:cxnSp>
        <p:nvCxnSpPr>
          <p:cNvPr id="284" name="Google Shape;284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0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90" name="Google Shape;290;p30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0"/>
          <p:cNvSpPr txBox="1"/>
          <p:nvPr>
            <p:ph idx="2" type="subTitle"/>
          </p:nvPr>
        </p:nvSpPr>
        <p:spPr>
          <a:xfrm>
            <a:off x="0" y="2473650"/>
            <a:ext cx="3811500" cy="2702400"/>
          </a:xfrm>
          <a:prstGeom prst="rect">
            <a:avLst/>
          </a:prstGeom>
          <a:noFill/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0"/>
          <p:cNvSpPr txBox="1"/>
          <p:nvPr>
            <p:ph idx="3" type="subTitle"/>
          </p:nvPr>
        </p:nvSpPr>
        <p:spPr>
          <a:xfrm>
            <a:off x="42366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0"/>
          <p:cNvSpPr txBox="1"/>
          <p:nvPr>
            <p:ph idx="4" type="subTitle"/>
          </p:nvPr>
        </p:nvSpPr>
        <p:spPr>
          <a:xfrm>
            <a:off x="81840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0"/>
          <p:cNvSpPr txBox="1"/>
          <p:nvPr>
            <p:ph idx="5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98" name="Google Shape;298;p30"/>
          <p:cNvSpPr txBox="1"/>
          <p:nvPr>
            <p:ph idx="6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1_1_1_1_1_1_1_1_1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9" name="Google Shape;309;p31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10" name="Google Shape;310;p31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11" name="Google Shape;311;p31"/>
          <p:cNvSpPr txBox="1"/>
          <p:nvPr>
            <p:ph idx="3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1"/>
          <p:cNvSpPr txBox="1"/>
          <p:nvPr>
            <p:ph idx="4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31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1_1_1_1_1_1_1_1_1_1_2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EF0F0"/>
              </a:solidFill>
            </a:endParaRPr>
          </a:p>
        </p:txBody>
      </p:sp>
      <p:cxnSp>
        <p:nvCxnSpPr>
          <p:cNvPr id="316" name="Google Shape;316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18" name="Google Shape;31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1" name="Google Shape;321;p32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22" name="Google Shape;322;p32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2"/>
          <p:cNvSpPr txBox="1"/>
          <p:nvPr>
            <p:ph idx="2" type="subTitle"/>
          </p:nvPr>
        </p:nvSpPr>
        <p:spPr>
          <a:xfrm>
            <a:off x="0" y="2473650"/>
            <a:ext cx="3811500" cy="2702400"/>
          </a:xfrm>
          <a:prstGeom prst="rect">
            <a:avLst/>
          </a:prstGeom>
          <a:noFill/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7" name="Google Shape;327;p32"/>
          <p:cNvSpPr txBox="1"/>
          <p:nvPr>
            <p:ph idx="3" type="subTitle"/>
          </p:nvPr>
        </p:nvSpPr>
        <p:spPr>
          <a:xfrm>
            <a:off x="42366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8" name="Google Shape;328;p32"/>
          <p:cNvSpPr txBox="1"/>
          <p:nvPr>
            <p:ph idx="4" type="subTitle"/>
          </p:nvPr>
        </p:nvSpPr>
        <p:spPr>
          <a:xfrm>
            <a:off x="81840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9" name="Google Shape;329;p32"/>
          <p:cNvSpPr txBox="1"/>
          <p:nvPr>
            <p:ph idx="5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30" name="Google Shape;330;p32"/>
          <p:cNvSpPr txBox="1"/>
          <p:nvPr>
            <p:ph idx="6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3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1" name="Google Shape;341;p33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3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4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1_1_1_1_1_1_1_1_1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oogle Shape;347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2" name="Google Shape;352;p3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1_1_1_1_1_1_1_1_1_1_1_1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56" name="Google Shape;35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0" name="Google Shape;360;p35"/>
          <p:cNvSpPr txBox="1"/>
          <p:nvPr>
            <p:ph idx="2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62" name="Google Shape;362;p35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1_1_1_1_1_1_1_1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66" name="Google Shape;36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9" name="Google Shape;369;p36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0" name="Google Shape;370;p36"/>
          <p:cNvSpPr txBox="1"/>
          <p:nvPr>
            <p:ph idx="2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1_1_1_1_1_1_1_1_1_1_1_1_1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75" name="Google Shape;37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78" name="Google Shape;378;p37"/>
          <p:cNvSpPr txBox="1"/>
          <p:nvPr>
            <p:ph idx="2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79" name="Google Shape;379;p37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1_1_1_1_1_1_1_1_1_1_1_1_1_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1" name="Google Shape;381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83" name="Google Shape;38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86" name="Google Shape;386;p38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87" name="Google Shape;387;p38"/>
          <p:cNvSpPr txBox="1"/>
          <p:nvPr>
            <p:ph idx="3" type="body"/>
          </p:nvPr>
        </p:nvSpPr>
        <p:spPr>
          <a:xfrm>
            <a:off x="885050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88" name="Google Shape;388;p38"/>
          <p:cNvSpPr txBox="1"/>
          <p:nvPr>
            <p:ph idx="4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89" name="Google Shape;389;p38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0" name="Google Shape;390;p38"/>
          <p:cNvSpPr txBox="1"/>
          <p:nvPr>
            <p:ph idx="5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column body">
  <p:cSld name="CUSTOM_1_1_1_1_1_1_1_1_1_1_1_1_1_1_1_1_1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" name="Google Shape;392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94" name="Google Shape;394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97" name="Google Shape;397;p39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98" name="Google Shape;398;p3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9" name="Google Shape;399;p39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00" name="Google Shape;400;p39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1_1_1_1_1_1_1_1_1_1_1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04" name="Google Shape;4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" name="Google Shape;405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4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07" name="Google Shape;407;p40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1B0D3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0"/>
          <p:cNvSpPr txBox="1"/>
          <p:nvPr>
            <p:ph idx="2" type="subTitle"/>
          </p:nvPr>
        </p:nvSpPr>
        <p:spPr>
          <a:xfrm>
            <a:off x="3362500" y="1832875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09" name="Google Shape;409;p40"/>
          <p:cNvSpPr txBox="1"/>
          <p:nvPr>
            <p:ph idx="3" type="subTitle"/>
          </p:nvPr>
        </p:nvSpPr>
        <p:spPr>
          <a:xfrm>
            <a:off x="4467775" y="1832875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0" name="Google Shape;410;p40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1_1_1_1_1_1_1_1_1_1_1_1_1_1_1_1_1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14" name="Google Shape;414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7" name="Google Shape;417;p41"/>
          <p:cNvSpPr txBox="1"/>
          <p:nvPr>
            <p:ph idx="2" type="subTitle"/>
          </p:nvPr>
        </p:nvSpPr>
        <p:spPr>
          <a:xfrm>
            <a:off x="3278900" y="38923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18" name="Google Shape;418;p41"/>
          <p:cNvSpPr txBox="1"/>
          <p:nvPr>
            <p:ph idx="3" type="subTitle"/>
          </p:nvPr>
        </p:nvSpPr>
        <p:spPr>
          <a:xfrm>
            <a:off x="2042425" y="2461200"/>
            <a:ext cx="2106900" cy="108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9" name="Google Shape;419;p41"/>
          <p:cNvSpPr txBox="1"/>
          <p:nvPr>
            <p:ph idx="4" type="subTitle"/>
          </p:nvPr>
        </p:nvSpPr>
        <p:spPr>
          <a:xfrm>
            <a:off x="1948585" y="4962670"/>
            <a:ext cx="210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 algn="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0" name="Google Shape;420;p41"/>
          <p:cNvSpPr txBox="1"/>
          <p:nvPr>
            <p:ph idx="5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1" name="Google Shape;421;p4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2" name="Google Shape;422;p41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3" name="Google Shape;423;p41"/>
          <p:cNvSpPr txBox="1"/>
          <p:nvPr>
            <p:ph idx="7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1_1_1_1_1_1_1_1_1_1_1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"/>
          <p:cNvSpPr txBox="1"/>
          <p:nvPr>
            <p:ph idx="1" type="subTitle"/>
          </p:nvPr>
        </p:nvSpPr>
        <p:spPr>
          <a:xfrm>
            <a:off x="446662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6" name="Google Shape;426;p42"/>
          <p:cNvSpPr txBox="1"/>
          <p:nvPr>
            <p:ph idx="2" type="subTitle"/>
          </p:nvPr>
        </p:nvSpPr>
        <p:spPr>
          <a:xfrm>
            <a:off x="8038889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3" type="subTitle"/>
          </p:nvPr>
        </p:nvSpPr>
        <p:spPr>
          <a:xfrm>
            <a:off x="89037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28" name="Google Shape;428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4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30" name="Google Shape;43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42"/>
          <p:cNvSpPr txBox="1"/>
          <p:nvPr>
            <p:ph idx="4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33" name="Google Shape;433;p42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34" name="Google Shape;434;p4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5" name="Google Shape;435;p42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36" name="Google Shape;436;p42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2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8" name="Google Shape;438;p42"/>
          <p:cNvSpPr txBox="1"/>
          <p:nvPr>
            <p:ph idx="7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8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40" name="Google Shape;440;p42"/>
          <p:cNvSpPr txBox="1"/>
          <p:nvPr>
            <p:ph idx="9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1_1_1_1_1_1_1_1_1_1_1_1_1_1_1_1_1_1_1_1_1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Google Shape;442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44" name="Google Shape;44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47" name="Google Shape;447;p4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48" name="Google Shape;448;p4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9" name="Google Shape;449;p43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0" name="Google Shape;450;p43"/>
          <p:cNvSpPr txBox="1"/>
          <p:nvPr>
            <p:ph idx="4" type="subTitle"/>
          </p:nvPr>
        </p:nvSpPr>
        <p:spPr>
          <a:xfrm>
            <a:off x="80463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51" name="Google Shape;451;p43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2" name="Google Shape;452;p43"/>
          <p:cNvSpPr txBox="1"/>
          <p:nvPr>
            <p:ph idx="5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3" name="Google Shape;453;p43"/>
          <p:cNvSpPr txBox="1"/>
          <p:nvPr>
            <p:ph idx="6" type="subTitle"/>
          </p:nvPr>
        </p:nvSpPr>
        <p:spPr>
          <a:xfrm>
            <a:off x="46239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7" type="subTitle"/>
          </p:nvPr>
        </p:nvSpPr>
        <p:spPr>
          <a:xfrm>
            <a:off x="46239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8" type="subTitle"/>
          </p:nvPr>
        </p:nvSpPr>
        <p:spPr>
          <a:xfrm>
            <a:off x="80463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1_1_1_1_1_1_1_1_1_1_1_1_1_1_1_1_1_1_1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59" name="Google Shape;459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4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2" name="Google Shape;462;p4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3" name="Google Shape;463;p44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4" name="Google Shape;464;p44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5" name="Google Shape;465;p44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66" name="Google Shape;466;p44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7" name="Google Shape;467;p44"/>
          <p:cNvSpPr txBox="1"/>
          <p:nvPr>
            <p:ph idx="5" type="subTitle"/>
          </p:nvPr>
        </p:nvSpPr>
        <p:spPr>
          <a:xfrm>
            <a:off x="4620750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8" name="Google Shape;468;p44"/>
          <p:cNvSpPr txBox="1"/>
          <p:nvPr>
            <p:ph idx="6" type="subTitle"/>
          </p:nvPr>
        </p:nvSpPr>
        <p:spPr>
          <a:xfrm>
            <a:off x="8051175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1_1_1_1_1_1_1_1_1_1_1_1_1_1_1_1_1_1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0" name="Google Shape;470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72" name="Google Shape;47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75" name="Google Shape;475;p45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8" name="Google Shape;478;p45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9" name="Google Shape;479;p45"/>
          <p:cNvSpPr txBox="1"/>
          <p:nvPr>
            <p:ph idx="5" type="subTitle"/>
          </p:nvPr>
        </p:nvSpPr>
        <p:spPr>
          <a:xfrm>
            <a:off x="9078250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6" type="subTitle"/>
          </p:nvPr>
        </p:nvSpPr>
        <p:spPr>
          <a:xfrm>
            <a:off x="10284525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7" type="subTitle"/>
          </p:nvPr>
        </p:nvSpPr>
        <p:spPr>
          <a:xfrm>
            <a:off x="9078250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8" type="subTitle"/>
          </p:nvPr>
        </p:nvSpPr>
        <p:spPr>
          <a:xfrm>
            <a:off x="10284525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3" name="Google Shape;483;p45"/>
          <p:cNvSpPr txBox="1"/>
          <p:nvPr>
            <p:ph idx="9" type="subTitle"/>
          </p:nvPr>
        </p:nvSpPr>
        <p:spPr>
          <a:xfrm>
            <a:off x="9078250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4" name="Google Shape;484;p45"/>
          <p:cNvSpPr txBox="1"/>
          <p:nvPr>
            <p:ph idx="13" type="subTitle"/>
          </p:nvPr>
        </p:nvSpPr>
        <p:spPr>
          <a:xfrm>
            <a:off x="10284525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1_1_1_1_1_1_1_1_1_1_1_1_1_1_1_1_1_1_1_1_1_1_1_1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" name="Google Shape;486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4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88" name="Google Shape;48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4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91" name="Google Shape;491;p46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92" name="Google Shape;492;p46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3" name="Google Shape;493;p46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94" name="Google Shape;494;p46"/>
          <p:cNvCxnSpPr/>
          <p:nvPr/>
        </p:nvCxnSpPr>
        <p:spPr>
          <a:xfrm>
            <a:off x="430760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6"/>
          <p:cNvCxnSpPr/>
          <p:nvPr/>
        </p:nvCxnSpPr>
        <p:spPr>
          <a:xfrm>
            <a:off x="789055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96" name="Google Shape;4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6"/>
          <p:cNvSpPr txBox="1"/>
          <p:nvPr>
            <p:ph idx="4" type="subTitle"/>
          </p:nvPr>
        </p:nvSpPr>
        <p:spPr>
          <a:xfrm>
            <a:off x="1140925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0" name="Google Shape;500;p46"/>
          <p:cNvSpPr txBox="1"/>
          <p:nvPr>
            <p:ph idx="5" type="subTitle"/>
          </p:nvPr>
        </p:nvSpPr>
        <p:spPr>
          <a:xfrm>
            <a:off x="1144000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01" name="Google Shape;501;p46"/>
          <p:cNvSpPr txBox="1"/>
          <p:nvPr>
            <p:ph idx="6" type="subTitle"/>
          </p:nvPr>
        </p:nvSpPr>
        <p:spPr>
          <a:xfrm>
            <a:off x="472234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2" name="Google Shape;502;p46"/>
          <p:cNvSpPr txBox="1"/>
          <p:nvPr>
            <p:ph idx="7" type="subTitle"/>
          </p:nvPr>
        </p:nvSpPr>
        <p:spPr>
          <a:xfrm>
            <a:off x="4725413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03" name="Google Shape;503;p46"/>
          <p:cNvSpPr txBox="1"/>
          <p:nvPr>
            <p:ph idx="8" type="subTitle"/>
          </p:nvPr>
        </p:nvSpPr>
        <p:spPr>
          <a:xfrm>
            <a:off x="830527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4" name="Google Shape;504;p46"/>
          <p:cNvSpPr txBox="1"/>
          <p:nvPr>
            <p:ph idx="9" type="subTitle"/>
          </p:nvPr>
        </p:nvSpPr>
        <p:spPr>
          <a:xfrm>
            <a:off x="8308338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1_1_1_1_1_1_1_1_1_1_1_1_1_1_1_1_1_1_1_1_1_1_1_1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6" name="Google Shape;506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08" name="Google Shape;50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4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11" name="Google Shape;511;p4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12" name="Google Shape;512;p47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3" name="Google Shape;513;p47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14" name="Google Shape;514;p47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515" name="Google Shape;51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7"/>
          <p:cNvSpPr txBox="1"/>
          <p:nvPr>
            <p:ph idx="4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5" type="subTitle"/>
          </p:nvPr>
        </p:nvSpPr>
        <p:spPr>
          <a:xfrm>
            <a:off x="13431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19" name="Google Shape;519;p47"/>
          <p:cNvSpPr txBox="1"/>
          <p:nvPr>
            <p:ph idx="6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20" name="Google Shape;520;p47"/>
          <p:cNvSpPr txBox="1"/>
          <p:nvPr>
            <p:ph idx="7" type="subTitle"/>
          </p:nvPr>
        </p:nvSpPr>
        <p:spPr>
          <a:xfrm>
            <a:off x="65293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1_1_1_1_1_1_1_1_1_1_1_1_1_1_1_1_1_1_1_1_1_1_1_1_1_1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4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24" name="Google Shape;52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5" name="Google Shape;525;p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27" name="Google Shape;527;p48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pic>
        <p:nvPicPr>
          <p:cNvPr id="528" name="Google Shape;52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8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600"/>
              <a:buNone/>
              <a:defRPr sz="26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30" name="Google Shape;530;p48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1_1_1_1_1_1_1_1_1_1_1_1_1_1_1_1_1_1_1_1_1_1_1_1_1_1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2" name="Google Shape;532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4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34" name="Google Shape;53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5" name="Google Shape;535;p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37" name="Google Shape;537;p49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38" name="Google Shape;538;p4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9" name="Google Shape;539;p49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40" name="Google Shape;540;p49"/>
          <p:cNvSpPr txBox="1"/>
          <p:nvPr>
            <p:ph idx="4" type="subTitle"/>
          </p:nvPr>
        </p:nvSpPr>
        <p:spPr>
          <a:xfrm>
            <a:off x="208462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1" name="Google Shape;541;p49"/>
          <p:cNvSpPr txBox="1"/>
          <p:nvPr>
            <p:ph idx="5" type="subTitle"/>
          </p:nvPr>
        </p:nvSpPr>
        <p:spPr>
          <a:xfrm>
            <a:off x="685507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2" name="Google Shape;542;p49"/>
          <p:cNvSpPr txBox="1"/>
          <p:nvPr>
            <p:ph idx="6" type="subTitle"/>
          </p:nvPr>
        </p:nvSpPr>
        <p:spPr>
          <a:xfrm>
            <a:off x="208462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3" name="Google Shape;543;p49"/>
          <p:cNvSpPr txBox="1"/>
          <p:nvPr>
            <p:ph idx="7" type="subTitle"/>
          </p:nvPr>
        </p:nvSpPr>
        <p:spPr>
          <a:xfrm>
            <a:off x="685507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1_1_1_1_1_1_1_1_1_1_1_1_1_1_1_1_1_1_1_1_1_1_1_1_1_1_1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5" name="Google Shape;545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5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47" name="Google Shape;54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5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0" name="Google Shape;550;p50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51" name="Google Shape;551;p5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2" name="Google Shape;552;p50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53" name="Google Shape;553;p50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50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50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56" name="Google Shape;556;p50"/>
          <p:cNvSpPr txBox="1"/>
          <p:nvPr>
            <p:ph idx="4" type="subTitle"/>
          </p:nvPr>
        </p:nvSpPr>
        <p:spPr>
          <a:xfrm>
            <a:off x="885125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7" name="Google Shape;557;p50"/>
          <p:cNvSpPr txBox="1"/>
          <p:nvPr>
            <p:ph idx="5" type="subTitle"/>
          </p:nvPr>
        </p:nvSpPr>
        <p:spPr>
          <a:xfrm>
            <a:off x="3564600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8" name="Google Shape;558;p50"/>
          <p:cNvSpPr txBox="1"/>
          <p:nvPr>
            <p:ph idx="6" type="subTitle"/>
          </p:nvPr>
        </p:nvSpPr>
        <p:spPr>
          <a:xfrm>
            <a:off x="6244108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7" type="subTitle"/>
          </p:nvPr>
        </p:nvSpPr>
        <p:spPr>
          <a:xfrm>
            <a:off x="8923629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1_1_1_1_1_1_1_1_1_1_1_1_1_1_1_1_1_1_1_1_1_1_1_1_1_1_1_1_1_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5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63" name="Google Shape;56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5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5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66" name="Google Shape;566;p5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67" name="Google Shape;567;p5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8" name="Google Shape;568;p51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69" name="Google Shape;569;p51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51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1" name="Google Shape;571;p51"/>
          <p:cNvSpPr txBox="1"/>
          <p:nvPr>
            <p:ph idx="4" type="subTitle"/>
          </p:nvPr>
        </p:nvSpPr>
        <p:spPr>
          <a:xfrm>
            <a:off x="88870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72" name="Google Shape;572;p51"/>
          <p:cNvSpPr txBox="1"/>
          <p:nvPr>
            <p:ph idx="5" type="subTitle"/>
          </p:nvPr>
        </p:nvSpPr>
        <p:spPr>
          <a:xfrm>
            <a:off x="44683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73" name="Google Shape;573;p51"/>
          <p:cNvSpPr txBox="1"/>
          <p:nvPr>
            <p:ph idx="6" type="subTitle"/>
          </p:nvPr>
        </p:nvSpPr>
        <p:spPr>
          <a:xfrm>
            <a:off x="80480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1_1_1_1_1_1_1_1_1_1_1_1_1_1_1_1_1_1_1_1_1_1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77" name="Google Shape;57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5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5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0" name="Google Shape;580;p5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81" name="Google Shape;581;p52"/>
          <p:cNvSpPr txBox="1"/>
          <p:nvPr>
            <p:ph type="title"/>
          </p:nvPr>
        </p:nvSpPr>
        <p:spPr>
          <a:xfrm>
            <a:off x="885125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2" name="Google Shape;582;p52"/>
          <p:cNvSpPr txBox="1"/>
          <p:nvPr>
            <p:ph idx="3" type="subTitle"/>
          </p:nvPr>
        </p:nvSpPr>
        <p:spPr>
          <a:xfrm>
            <a:off x="883475" y="33720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83" name="Google Shape;583;p52"/>
          <p:cNvSpPr txBox="1"/>
          <p:nvPr>
            <p:ph idx="4" type="subTitle"/>
          </p:nvPr>
        </p:nvSpPr>
        <p:spPr>
          <a:xfrm>
            <a:off x="6857350" y="124070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4" name="Google Shape;584;p52"/>
          <p:cNvSpPr txBox="1"/>
          <p:nvPr>
            <p:ph idx="5" type="subTitle"/>
          </p:nvPr>
        </p:nvSpPr>
        <p:spPr>
          <a:xfrm>
            <a:off x="6857350" y="2824575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5" name="Google Shape;585;p52"/>
          <p:cNvSpPr txBox="1"/>
          <p:nvPr>
            <p:ph idx="6" type="subTitle"/>
          </p:nvPr>
        </p:nvSpPr>
        <p:spPr>
          <a:xfrm>
            <a:off x="6857350" y="440845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1_1_1_1_1_1_1_1_1_1_1_1_1_1_1_1_1_1_1_1_1_1_1_1_1_1_1_1_1_1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5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89" name="Google Shape;58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" name="Google Shape;590;p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5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92" name="Google Shape;592;p5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93" name="Google Shape;593;p5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53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95" name="Google Shape;595;p53"/>
          <p:cNvSpPr txBox="1"/>
          <p:nvPr>
            <p:ph idx="4" type="subTitle"/>
          </p:nvPr>
        </p:nvSpPr>
        <p:spPr>
          <a:xfrm>
            <a:off x="5662074" y="2539255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1_1_1_1_1_1_1_1_1_1_1_1_1_1_1_1_1_1_1_1_1_1_1_1_1_1_1_1_1_1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7" name="Google Shape;597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99" name="Google Shape;59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0" name="Google Shape;600;p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54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602" name="Google Shape;602;p54"/>
          <p:cNvSpPr txBox="1"/>
          <p:nvPr>
            <p:ph type="title"/>
          </p:nvPr>
        </p:nvSpPr>
        <p:spPr>
          <a:xfrm>
            <a:off x="3280325" y="1652950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603" name="Google Shape;603;p54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 1">
  <p:cSld name="CUSTOM_4_18"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5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06" name="Google Shape;606;p55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55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55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9" name="Google Shape;609;p55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0" name="Google Shape;6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3009" y="6243950"/>
            <a:ext cx="393701" cy="29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1">
  <p:cSld name="CUSTOM_4_22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6"/>
          <p:cNvSpPr txBox="1"/>
          <p:nvPr>
            <p:ph type="title"/>
          </p:nvPr>
        </p:nvSpPr>
        <p:spPr>
          <a:xfrm>
            <a:off x="1752162" y="868680"/>
            <a:ext cx="8684700" cy="968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613" name="Google Shape;613;p56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56"/>
          <p:cNvSpPr txBox="1"/>
          <p:nvPr>
            <p:ph idx="1" type="subTitle"/>
          </p:nvPr>
        </p:nvSpPr>
        <p:spPr>
          <a:xfrm>
            <a:off x="447663" y="55441"/>
            <a:ext cx="51477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615" name="Google Shape;615;p56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56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7" name="Google Shape;617;p5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6"/>
          <p:cNvSpPr txBox="1"/>
          <p:nvPr>
            <p:ph idx="2" type="subTitle"/>
          </p:nvPr>
        </p:nvSpPr>
        <p:spPr>
          <a:xfrm>
            <a:off x="884829" y="6169550"/>
            <a:ext cx="91809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 5">
  <p:cSld name="CUSTOM_4_17_2_8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57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7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57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57"/>
          <p:cNvSpPr txBox="1"/>
          <p:nvPr>
            <p:ph idx="1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4" name="Google Shape;624;p57"/>
          <p:cNvSpPr txBox="1"/>
          <p:nvPr>
            <p:ph idx="2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5" name="Google Shape;625;p57"/>
          <p:cNvSpPr txBox="1"/>
          <p:nvPr>
            <p:ph type="title"/>
          </p:nvPr>
        </p:nvSpPr>
        <p:spPr>
          <a:xfrm>
            <a:off x="884829" y="1100350"/>
            <a:ext cx="10419300" cy="553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626" name="Google Shape;626;p57"/>
          <p:cNvSpPr txBox="1"/>
          <p:nvPr>
            <p:ph idx="3" type="body"/>
          </p:nvPr>
        </p:nvSpPr>
        <p:spPr>
          <a:xfrm>
            <a:off x="2437790" y="2286000"/>
            <a:ext cx="73134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lnSpc>
                <a:spcPct val="135000"/>
              </a:lnSpc>
              <a:spcBef>
                <a:spcPts val="1100"/>
              </a:spcBef>
              <a:spcAft>
                <a:spcPts val="11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627" name="Google Shape;627;p57"/>
          <p:cNvSpPr/>
          <p:nvPr/>
        </p:nvSpPr>
        <p:spPr>
          <a:xfrm>
            <a:off x="11453009" y="6243950"/>
            <a:ext cx="393701" cy="2973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 1 1">
  <p:cSld name="CUSTOM_4_18_3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8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30" name="Google Shape;630;p58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58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8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3" name="Google Shape;633;p5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8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3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9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37" name="Google Shape;637;p59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59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59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p5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9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2" name="Google Shape;642;p59"/>
          <p:cNvSpPr txBox="1"/>
          <p:nvPr>
            <p:ph type="title"/>
          </p:nvPr>
        </p:nvSpPr>
        <p:spPr>
          <a:xfrm>
            <a:off x="884829" y="1100350"/>
            <a:ext cx="10419300" cy="553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643" name="Google Shape;643;p59"/>
          <p:cNvSpPr txBox="1"/>
          <p:nvPr>
            <p:ph idx="3" type="subTitle"/>
          </p:nvPr>
        </p:nvSpPr>
        <p:spPr>
          <a:xfrm>
            <a:off x="884904" y="1653550"/>
            <a:ext cx="10419300" cy="291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0"/>
          <p:cNvSpPr/>
          <p:nvPr/>
        </p:nvSpPr>
        <p:spPr>
          <a:xfrm>
            <a:off x="-50" y="0"/>
            <a:ext cx="8817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46" name="Google Shape;646;p60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60"/>
          <p:cNvSpPr txBox="1"/>
          <p:nvPr>
            <p:ph idx="1" type="subTitle"/>
          </p:nvPr>
        </p:nvSpPr>
        <p:spPr>
          <a:xfrm rot="5400000">
            <a:off x="-2138518" y="2138550"/>
            <a:ext cx="5148900" cy="8718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648" name="Google Shape;648;p6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0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60"/>
          <p:cNvSpPr txBox="1"/>
          <p:nvPr>
            <p:ph idx="2" type="subTitle"/>
          </p:nvPr>
        </p:nvSpPr>
        <p:spPr>
          <a:xfrm>
            <a:off x="5659109" y="3971650"/>
            <a:ext cx="4445100" cy="9144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ed Hat Display"/>
              <a:buNone/>
              <a:def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1" name="Google Shape;651;p60"/>
          <p:cNvSpPr txBox="1"/>
          <p:nvPr>
            <p:ph type="title"/>
          </p:nvPr>
        </p:nvSpPr>
        <p:spPr>
          <a:xfrm>
            <a:off x="5659109" y="1709031"/>
            <a:ext cx="5734800" cy="211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2" name="Google Shape;652;p60"/>
          <p:cNvSpPr txBox="1"/>
          <p:nvPr>
            <p:ph idx="3" type="subTitle"/>
          </p:nvPr>
        </p:nvSpPr>
        <p:spPr>
          <a:xfrm>
            <a:off x="5659109" y="5318275"/>
            <a:ext cx="2039700" cy="605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ed Hat Display Medium"/>
              <a:buNone/>
              <a:defRPr sz="1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3" name="Google Shape;653;p60"/>
          <p:cNvSpPr/>
          <p:nvPr/>
        </p:nvSpPr>
        <p:spPr>
          <a:xfrm>
            <a:off x="8899623" y="5878875"/>
            <a:ext cx="32892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4" name="Google Shape;654;p60"/>
          <p:cNvPicPr preferRelativeResize="0"/>
          <p:nvPr/>
        </p:nvPicPr>
        <p:blipFill rotWithShape="1">
          <a:blip r:embed="rId3">
            <a:alphaModFix/>
          </a:blip>
          <a:srcRect b="0" l="0" r="41877" t="0"/>
          <a:stretch/>
        </p:blipFill>
        <p:spPr>
          <a:xfrm>
            <a:off x="10868935" y="6116250"/>
            <a:ext cx="1208002" cy="62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1"/>
          <p:cNvSpPr txBox="1"/>
          <p:nvPr>
            <p:ph idx="10" type="dt"/>
          </p:nvPr>
        </p:nvSpPr>
        <p:spPr>
          <a:xfrm>
            <a:off x="457086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61"/>
          <p:cNvSpPr txBox="1"/>
          <p:nvPr>
            <p:ph idx="11" type="ftr"/>
          </p:nvPr>
        </p:nvSpPr>
        <p:spPr>
          <a:xfrm>
            <a:off x="3123418" y="6356350"/>
            <a:ext cx="289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61"/>
          <p:cNvSpPr txBox="1"/>
          <p:nvPr>
            <p:ph idx="12" type="sldNum"/>
          </p:nvPr>
        </p:nvSpPr>
        <p:spPr>
          <a:xfrm>
            <a:off x="655156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Internal - Confidential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Font typeface="Red Hat Display"/>
              <a:buAutoNum type="roman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redhat.com/en/lightwel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62" title="background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721" y="0"/>
            <a:ext cx="35763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2"/>
          <p:cNvSpPr txBox="1"/>
          <p:nvPr>
            <p:ph type="title"/>
          </p:nvPr>
        </p:nvSpPr>
        <p:spPr>
          <a:xfrm>
            <a:off x="5059903" y="1698100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CVE to test scope</a:t>
            </a:r>
            <a:endParaRPr/>
          </a:p>
        </p:txBody>
      </p:sp>
      <p:sp>
        <p:nvSpPr>
          <p:cNvPr id="665" name="Google Shape;665;p62"/>
          <p:cNvSpPr txBox="1"/>
          <p:nvPr>
            <p:ph idx="2" type="subTitle"/>
          </p:nvPr>
        </p:nvSpPr>
        <p:spPr>
          <a:xfrm>
            <a:off x="5059903" y="3960725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upgrade-delta — delta reports, project scorecards &amp; test routing</a:t>
            </a:r>
            <a:endParaRPr/>
          </a:p>
        </p:txBody>
      </p:sp>
      <p:sp>
        <p:nvSpPr>
          <p:cNvPr id="666" name="Google Shape;666;p62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67" name="Google Shape;667;p62"/>
          <p:cNvSpPr txBox="1"/>
          <p:nvPr>
            <p:ph idx="3" type="subTitle"/>
          </p:nvPr>
        </p:nvSpPr>
        <p:spPr>
          <a:xfrm>
            <a:off x="5059900" y="5318275"/>
            <a:ext cx="33681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Red Hat Lightwell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68" name="Google Shape;668;p62"/>
          <p:cNvSpPr txBox="1"/>
          <p:nvPr>
            <p:ph idx="3" type="subTitle"/>
          </p:nvPr>
        </p:nvSpPr>
        <p:spPr>
          <a:xfrm>
            <a:off x="8586029" y="5318275"/>
            <a:ext cx="33681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Red Hat Lightwell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3"/>
          <p:cNvSpPr txBox="1"/>
          <p:nvPr>
            <p:ph idx="2" type="subTitle"/>
          </p:nvPr>
        </p:nvSpPr>
        <p:spPr>
          <a:xfrm>
            <a:off x="764025" y="6271000"/>
            <a:ext cx="87072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https://www.redhat.com/en/lightwell</a:t>
            </a:r>
            <a:r>
              <a:rPr lang="en"/>
              <a:t> </a:t>
            </a:r>
            <a:endParaRPr/>
          </a:p>
        </p:txBody>
      </p:sp>
      <p:sp>
        <p:nvSpPr>
          <p:cNvPr id="674" name="Google Shape;674;p63"/>
          <p:cNvSpPr txBox="1"/>
          <p:nvPr>
            <p:ph type="title"/>
          </p:nvPr>
        </p:nvSpPr>
        <p:spPr>
          <a:xfrm>
            <a:off x="727300" y="1652950"/>
            <a:ext cx="10969500" cy="160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51515"/>
                </a:solidFill>
              </a:rPr>
              <a:t>Red Hat Lightwell</a:t>
            </a:r>
            <a:r>
              <a:rPr lang="en" sz="1400">
                <a:solidFill>
                  <a:srgbClr val="151515"/>
                </a:solidFill>
              </a:rPr>
              <a:t> is a joint initiative between Red Hat and IBM focused on securing the open source software supply chain. It serves as a trusted clearinghouse for vulnerability management, coordinating scanning, triage, patching, backporting, and upstream collaboration. </a:t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51515"/>
                </a:solidFill>
              </a:rPr>
              <a:t>Lightwell also provides curated and certified package registries for ecosystems such as Java, Python, and JavaScript, helping organizations consume open source software more securely and confidently.</a:t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51515"/>
                </a:solidFill>
              </a:rPr>
              <a:t>There are 2 (two) membership tiers:</a:t>
            </a:r>
            <a:endParaRPr sz="1400">
              <a:solidFill>
                <a:srgbClr val="151515"/>
              </a:solidFill>
            </a:endParaRPr>
          </a:p>
        </p:txBody>
      </p:sp>
      <p:sp>
        <p:nvSpPr>
          <p:cNvPr id="675" name="Google Shape;675;p63"/>
          <p:cNvSpPr txBox="1"/>
          <p:nvPr>
            <p:ph type="title"/>
          </p:nvPr>
        </p:nvSpPr>
        <p:spPr>
          <a:xfrm>
            <a:off x="804150" y="338350"/>
            <a:ext cx="10698000" cy="55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is Red Hat Lightwell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6" name="Google Shape;676;p63"/>
          <p:cNvSpPr txBox="1"/>
          <p:nvPr/>
        </p:nvSpPr>
        <p:spPr>
          <a:xfrm>
            <a:off x="1909700" y="3429009"/>
            <a:ext cx="37809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E0000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</a:t>
            </a:r>
            <a:endParaRPr b="1" sz="1300">
              <a:solidFill>
                <a:srgbClr val="EE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9144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Access to libraries, remediations, and patches as they become available.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b="1"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Remediation 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for serviced packages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Digitally signed binaries and source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Compliance artifacts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carries patches not yet accepted upstream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677" name="Google Shape;677;p63"/>
          <p:cNvSpPr txBox="1"/>
          <p:nvPr/>
        </p:nvSpPr>
        <p:spPr>
          <a:xfrm>
            <a:off x="6071800" y="3429009"/>
            <a:ext cx="43248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E0000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 Clearinghouse - FSI </a:t>
            </a:r>
            <a:endParaRPr b="1" sz="1300">
              <a:solidFill>
                <a:srgbClr val="EE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In addition to a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ll benefits of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 Lightwell Network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, customers receive access to: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b="1"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Vulnerability reporting and remediation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 for member specific package versions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Novel vulnerability verification and disclosure handling 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Requests may be anonymized and shared with other vertical members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Security TAM 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Mythos scanning and triage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Additional scanning options in the future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All fixes released to: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Other vertical members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Upstream open source projects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64" title="background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721" y="0"/>
            <a:ext cx="35763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64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84" name="Google Shape;684;p64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85" name="Google Shape;685;p64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is the world’s leading provider of enterprise open source software solutions. Award-winning support, training, and consulting services make Red Hat a trusted adviser to the Fortune 500.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Log4Shell's six weeks were never the rebuild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1515"/>
                </a:solidFill>
                <a:latin typeface="Red Hat Display"/>
              </a:rPr>
              <a:t>4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THE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Maven did its job. Rebuilding was never the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4431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8751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751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REGRESSION +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751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The full suite ran because nobody could say what changed; the change board waited on proof that didn't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0222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4542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1515"/>
                </a:solidFill>
                <a:latin typeface="Red Hat Display"/>
              </a:rPr>
              <a:t>0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4542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SIZE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4542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Scanners say “upgrade.” Test selectors key off your commits. Nobody prices the upgrade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08161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1515"/>
                </a:solidFill>
                <a:latin typeface="Red Hat Text"/>
              </a:rPr>
              <a:t>The question no one can answer today:  </a:t>
            </a:r>
            <a:r>
              <a:rPr sz="1600" b="0" i="1">
                <a:solidFill>
                  <a:srgbClr val="A30000"/>
                </a:solidFill>
                <a:latin typeface="Red Hat Text"/>
              </a:rPr>
              <a:t>“This upgrade fixes the CVE — how much of my test suite does it owe, and can I prove that number to my change board?”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Same CVE, two artifacts — the difference,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Structural diff of the real jars, intersected with the application's own bytecode. Nothing scripted.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94644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777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A30000"/>
                </a:solidFill>
                <a:latin typeface="Red Hat Display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01952"/>
            <a:ext cx="3391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Community forward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12848"/>
            <a:ext cx="33919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6E73"/>
                </a:solidFill>
                <a:latin typeface="Consolas"/>
              </a:rPr>
              <a:t>log4j-core 2.14.1 → 2.17.1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3063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Hundreds of public members changed · minor-version bump · transitive movement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The application calls a member that no longer exists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3C3F42"/>
                </a:solidFill>
                <a:latin typeface="Red Hat Text"/>
              </a:rPr>
              <a:t>Verdict: </a:t>
            </a:r>
            <a:r>
              <a:rPr sz="1250" b="1">
                <a:solidFill>
                  <a:srgbClr val="A30000"/>
                </a:solidFill>
                <a:latin typeface="Red Hat Text"/>
              </a:rPr>
              <a:t>migration first, then full regression — that verdict is the six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6526" y="292608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6A6E73"/>
                </a:solidFill>
                <a:latin typeface="Red Hat Display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3806" y="1554480"/>
            <a:ext cx="494644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3846" y="1874519"/>
            <a:ext cx="777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E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3E8635"/>
                </a:solidFill>
                <a:latin typeface="Red Hat Display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9686" y="1901952"/>
            <a:ext cx="3391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Maintained backport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9686" y="2212848"/>
            <a:ext cx="33919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6E73"/>
                </a:solidFill>
                <a:latin typeface="Consolas"/>
              </a:rPr>
              <a:t>log4j-core 2.12.1 → 2.12.2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3846" y="2788920"/>
            <a:ext cx="43063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One class changed · no API movement · no shipped-default changes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The application touches nothing that moved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3C3F42"/>
                </a:solidFill>
                <a:latin typeface="Red Hat Text"/>
              </a:rPr>
              <a:t>Verdict: </a:t>
            </a:r>
            <a:r>
              <a:rPr sz="1250" b="1">
                <a:solidFill>
                  <a:srgbClr val="3E8635"/>
                </a:solidFill>
                <a:latin typeface="Red Hat Text"/>
              </a:rPr>
              <a:t>smoke test, canary, promote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8161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Red Hat Text"/>
              </a:rPr>
              <a:t>The six-week difference was never the code — it was which artifact you sourced. </a:t>
            </a:r>
            <a:r>
              <a:rPr sz="1500" b="1">
                <a:solidFill>
                  <a:srgbClr val="151515"/>
                </a:solidFill>
                <a:latin typeface="Red Hat Text"/>
              </a:rPr>
              <a:t>Lightwell's backport discipline stops being a claim and becomes a number anyone can recompute.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upgrade-delta: five stages, five verifiable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Each stage is useful without the ones after it — adopt incrementally.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delta report +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publisher · once per version pair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03444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1772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4652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4652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rated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4652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shipped with every artifact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6576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4904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7784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7784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project scorecard
+ routing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7784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customer CI · code never leaves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9708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28036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0916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0916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named test list
+ deploy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0916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joins YOUR coverage map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2841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21169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4049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cd-gate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4049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promotion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4049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closes open obligations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1108161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trust boundary is the architecture:  </a:t>
            </a:r>
            <a:r>
              <a:rPr sz="1350" b="0">
                <a:solidFill>
                  <a:srgbClr val="3C3F42"/>
                </a:solidFill>
                <a:latin typeface="Red Hat Text"/>
              </a:rPr>
              <a:t>evidence flows down, code never flows up. Analysis runs once at publish time, app-agnostic; the customer's CI runs only the intersection with their own bytecode, locally — air-gapped by construction.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A6E73"/>
                </a:solidFill>
                <a:latin typeface="Red Hat Text"/>
              </a:rPr>
              <a:t>Every artifact is machine-readable JSON with a published schema — the files are the product; the tooling is plumbing around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Four signals per upgrade — and a churn number that survives skeptics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API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Public members removed / added / modified, binary-incompatible changes isolated.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483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651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Semantic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651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% of shared classes whose behavior changed — debug info, pool ordering and stack frames stripped; bytecode walked instruction-by-instruction.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326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494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Behavior 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494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Bundled defaults, resources, SPI registrations — the Log4Shell class of change: zero API movement, big behavior 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4170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5338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Stream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5338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z / y / x from the version numbers — the prior on intent, verified against the evidence, never trusted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8161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Proven live: 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A6E73"/>
                </a:solidFill>
                <a:latin typeface="Red Hat Text"/>
              </a:rPr>
              <a:t>identical source, two toolchains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2511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A6E73"/>
                </a:solidFill>
                <a:latin typeface="Red Hat Display"/>
              </a:rPr>
              <a:t>100%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A6E73"/>
                </a:solidFill>
                <a:latin typeface="Red Hat Text"/>
              </a:rPr>
              <a:t>raw byte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2511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E8635"/>
                </a:solidFill>
                <a:latin typeface="Red Hat Display"/>
              </a:rPr>
              <a:t>0.0%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A6E73"/>
                </a:solidFill>
                <a:latin typeface="Red Hat Text"/>
              </a:rPr>
              <a:t>semantic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61688"/>
            <a:ext cx="239481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A real one-method edit still reads 6.2%. Unparseable input falls back to raw hashing — the metric can over-report, it structurally cannot under-report.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A–F maps change to a test lane — escalation is automatic, de-escalation is signed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36776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E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3E8635"/>
                </a:solidFill>
                <a:latin typeface="Red Hat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591056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Disciplined patch: no API change, minimal churn, no default/SPI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91056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Fast lane: smoke + canary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7424013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404872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995C00"/>
                </a:solidFill>
                <a:latin typeface="Red Hat Display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59151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Patch with added surface, heavy churn, or shipped-default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59151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Targeted tests + canary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44952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172968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995C00"/>
                </a:solidFill>
                <a:latin typeface="Red Hat Display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127248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Minor release, no incompatibilities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27248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Partial regression + boot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13048"/>
            <a:ext cx="7424013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941063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A30000"/>
                </a:solidFill>
                <a:latin typeface="Red Hat Display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895344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Binary-incompatible changes, or a major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895344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Full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81144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709159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A30000"/>
                </a:solidFill>
                <a:latin typeface="Red Hat Display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663440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Incompatible changes your app provably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66344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Migration first, then full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6973" y="1508760"/>
            <a:ext cx="3383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1293" y="1764792"/>
            <a:ext cx="2834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asymmetry is the point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A “patch” with 50% churn is escalated with no ceremony.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De-escalation is only ever suggested — and for transitives it requires an explicit sign-off flag, recorded on the sealed report.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A30000"/>
                </a:solidFill>
                <a:latin typeface="Red Hat Text"/>
              </a:rPr>
              <a:t>Over-testing wastes hours. Under-testing ships an outage with an audit trail saying a tool approved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PROJECT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One scorecard, two audiences — risk flattened, work rolled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93776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6A6E73"/>
                </a:solidFill>
                <a:latin typeface="Red Hat Text"/>
              </a:rPr>
              <a:t>PAYMENTS-SERVICE · SCORECARD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103120"/>
            <a:ext cx="6400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995C00"/>
                </a:solidFill>
                <a:latin typeface="Red Hat Display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12140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with backport paths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would be </a:t>
            </a:r>
            <a:r>
              <a:rPr sz="1300" b="1">
                <a:solidFill>
                  <a:srgbClr val="A30000"/>
                </a:solidFill>
                <a:latin typeface="Red Hat Text"/>
              </a:rPr>
              <a:t>F</a:t>
            </a:r>
            <a:r>
              <a:rPr sz="1150" b="0">
                <a:solidFill>
                  <a:srgbClr val="3C3F42"/>
                </a:solidFill>
                <a:latin typeface="Red Hat Text"/>
              </a:rPr>
              <a:t> without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A6E73"/>
                </a:solidFill>
                <a:latin typeface="Red Hat Text"/>
              </a:rPr>
              <a:t>TEST-EFFORT BUDGET TO GET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327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Fast 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401568"/>
            <a:ext cx="777240" cy="219456"/>
          </a:xfrm>
          <a:prstGeom prst="rect">
            <a:avLst/>
          </a:prstGeom>
          <a:solidFill>
            <a:srgbClr val="3E8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33832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4047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Targeted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858767"/>
            <a:ext cx="777240" cy="219456"/>
          </a:xfrm>
          <a:prstGeom prst="rect">
            <a:avLst/>
          </a:prstGeom>
          <a:solidFill>
            <a:srgbClr val="99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3858767"/>
            <a:ext cx="777240" cy="219456"/>
          </a:xfrm>
          <a:prstGeom prst="rect">
            <a:avLst/>
          </a:prstGeom>
          <a:solidFill>
            <a:srgbClr val="99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13048" y="3858767"/>
            <a:ext cx="777240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995C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8404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3  (1 transitive)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48055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A6E73"/>
                </a:solidFill>
                <a:latin typeface="Red Hat Text"/>
              </a:rPr>
              <a:t>solid = direct · outline = transitive, counted at full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89204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51515"/>
                </a:solidFill>
                <a:latin typeface="Consolas"/>
              </a:rPr>
              <a:t>↳ acme-codec </a:t>
            </a:r>
            <a:r>
              <a:rPr sz="1050" b="0">
                <a:solidFill>
                  <a:srgbClr val="6A6E73"/>
                </a:solidFill>
                <a:latin typeface="Red Hat Text"/>
              </a:rPr>
              <a:t>via acme-http-client · fix lever: bump the parent or pin an override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A30000"/>
                </a:solidFill>
                <a:latin typeface="Red Hat Text"/>
              </a:rPr>
              <a:t>unrated: com.acme.xml — an upgrade you'd test blind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554480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Never an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883664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The headline is the worst pending grade on the best path per library. Nineteen A's and one F is a migration-grade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33472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Risk never rolls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962656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A transitive counts at full weight — anything else is risk laundering. Only the work plan nests under the parent.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712463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The gap is the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041648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B with the backport paths, F without: the subscription's value, measured per project, on the customer's own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91456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Whitespace is 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20640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Every dependency without a delta report is named — each one is a coverage conversation.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ENTERPRISE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Precise enough to de-escalate, honest about what it can't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1220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4763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1515"/>
                </a:solidFill>
                <a:latin typeface="Red Hat Display"/>
              </a:rPr>
              <a:t>Method-level reachability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76356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3C3F42"/>
                </a:solidFill>
                <a:latin typeface="Red Hat Text"/>
              </a:rPr>
              <a:t>The trap: 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a debug method the app never calls reaches a transitive's removed member.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Class-granular analysis </a:t>
            </a:r>
            <a:r>
              <a:rPr sz="1200" b="1">
                <a:solidFill>
                  <a:srgbClr val="A30000"/>
                </a:solidFill>
                <a:latin typeface="Red Hat Text"/>
              </a:rPr>
              <a:t>would flag it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and kill a legitimate de-escalation — on real frameworks, one touch of a god-class inflates every blast radius.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Method-granular walks caller → callee edges from the bytecode and proves the path unreached. The sign-off survives </a:t>
            </a:r>
            <a:r>
              <a:rPr sz="1200" b="0" i="1">
                <a:solidFill>
                  <a:srgbClr val="3C3F42"/>
                </a:solidFill>
                <a:latin typeface="Red Hat Text"/>
              </a:rPr>
              <a:t>because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the analysis got sharper — and the report prints both numbers.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6A6E73"/>
                </a:solidFill>
                <a:latin typeface="Consolas"/>
              </a:rPr>
              <a:t>app → HttpClient.execute → Retry.run → Base64Codec.encode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046" y="1554480"/>
            <a:ext cx="531220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366" y="1783080"/>
            <a:ext cx="4763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1515"/>
                </a:solidFill>
                <a:latin typeface="Red Hat Display"/>
              </a:rPr>
              <a:t>Any packaging — and the map-vs-territory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2366" y="2240280"/>
            <a:ext cx="476356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Thin jar, ten-module reactor, or shaded uber jar: same scan, same grade. Bundled dependency internals are excluded from </a:t>
            </a:r>
            <a:r>
              <a:rPr sz="1200" b="0" i="1">
                <a:solidFill>
                  <a:srgbClr val="3C3F42"/>
                </a:solidFill>
                <a:latin typeface="Red Hat Text"/>
              </a:rPr>
              <a:t>your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code's view.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The SBOM is the map; the artifact is the territory. Disagreement is a finding: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A30000"/>
                </a:solidFill>
                <a:latin typeface="Consolas"/>
              </a:rPr>
              <a:t>HAZARD  declared-not-shipped · version-drift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A30000"/>
                </a:solidFill>
                <a:latin typeface="Consolas"/>
              </a:rPr>
              <a:t>HAZARD  relocated shaded copy — classpath roulette,
        invisible to version-based remediation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Config &amp; reflection heuristics turn the cheap slice of the blind spot into visible “treat as reachable” rows — and every report still prints what it cannot see.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From affected code to a named test list — and an honest handoff to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routing.json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affected code,
never test names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6727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5055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935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coverage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935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your JaCoCo map,
with provenance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142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470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350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7 of 11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350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every RUN and skip
carries a reason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09558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7886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0766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deploy-gate.json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0766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canary: OPEN —
CD closes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82112"/>
            <a:ext cx="11081613" cy="155448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64992"/>
            <a:ext cx="104415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8FE88F"/>
                </a:solidFill>
                <a:latin typeface="Consolas"/>
              </a:rPr>
              <a:t>RUN CheckoutIT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covers GatewayClient ← acme-codec 1.11→1.15 [two-hop, signed-off]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8FE88F"/>
                </a:solidFill>
                <a:latin typeface="Consolas"/>
              </a:rPr>
              <a:t>RUN MetricsTest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absent from coverage map — unknown means run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FD566"/>
                </a:solidFill>
                <a:latin typeface="Consolas"/>
              </a:rPr>
              <a:t>RUN BootSmokeIT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mandatory @Tag("upgrade-gate") — runs even if the join selects nothing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1108161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The build never claims it ran the canary. </a:t>
            </a:r>
            <a:r>
              <a:rPr sz="1300" b="0">
                <a:solidFill>
                  <a:srgbClr val="3C3F42"/>
                </a:solidFill>
                <a:latin typeface="Red Hat Text"/>
              </a:rPr>
              <a:t>It attests what ran and emits the rest as OPEN obligations; a separate process at deploy time consumes the gate file and refuses to promote until they close. One unbroken, truthful chain — that is what a change board actually signs.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DESIGNED TO FAIL LOUDLY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The only permitted failures: too many tests, a failed build, a blocked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73352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Coverage map stale or unreadable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673352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Full suite runs, with the refusal reason on every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1673352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loud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13432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86584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Test absent from the coverage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386584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It runs — unknown always means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386584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no silent skips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99816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Mandatory gate test untagged / renamed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099816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Hard build failure naming the stale declaration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3099816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39896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13048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Project grade breaches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813048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CI gate fails — same project passes only with a recorded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813048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53128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526280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Deploy attempted without a gate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526280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Promotion 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526280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239512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Sealed evidence edited after the 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5239512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Verification fails — a B changed to an A is caught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239512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AUDIT-GRADE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The chain is sealed — and edits are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172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172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delta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172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1998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9488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488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488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14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04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04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selection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04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6630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4120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20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deploy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20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110816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Detached Ed25519 signatures over canonical JSON — reformatting is harmless, a single value edit is fatal. Publisher seals the delta reports; the customer's CI seals the rest: two identities on one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657600"/>
            <a:ext cx="8155533" cy="13716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0"/>
            <a:ext cx="75154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BBBBB"/>
                </a:solidFill>
                <a:latin typeface="Consolas"/>
              </a:rPr>
              <a:t>$ edit scorecard.json   </a:t>
            </a:r>
            <a:r>
              <a:rPr sz="1200" b="0">
                <a:solidFill>
                  <a:srgbClr val="888888"/>
                </a:solidFill>
                <a:latin typeface="Consolas"/>
              </a:rPr>
              <a:t># headline_grade: "B" → "A"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$ upgrade-delta verify scorecard.json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6B5E"/>
                </a:solidFill>
                <a:latin typeface="Consolas"/>
              </a:rPr>
              <a:t>FAILED: signature does not match content — edited after sealing  (exit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816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To a change board, an unsigned JSON file is a text document. A sealed one is an audit artifact.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Everyone answers half the question — the seam is unoccupied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Verified against public documentation, mid-2026. Re-verify before customer meetings — this market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81613" cy="1097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7393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SCA platforms (Snyk, Sonatype, Endor Labs)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7393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“Should I upgrade, and how risky is it?” — Endor's Upgrade Impact Analysis is the closest neighbor and stops at a risk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77393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No test scope. No deploy obligations. Platform findings, not sealed offline-verifiable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1081613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0837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ML test selection (Develocity PTS, Launchable)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0837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“Which tests for my code change?” — excellent for your commits; keep them for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300837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A dependency bump is a one-line diff whose real delta lives in a binary their models never see inside.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81613" cy="1097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24281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Renovate / Dependabot, japicmp / Revapi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4281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The delivery rails and the API-diff ancestors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24281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Complements, not competitors — we comment on the PRs they open; API diff is one of our four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8161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claim to defend: </a:t>
            </a:r>
            <a:r>
              <a:rPr sz="1350" b="0">
                <a:solidFill>
                  <a:srgbClr val="3C3F42"/>
                </a:solidFill>
                <a:latin typeface="Red Hat Text"/>
              </a:rPr>
              <a:t>from chosen upgrade to deploy gate, no other tool produces a sealed, offline-verifiable chain from changed members → method-level reachability in this application → named tests with reasons → open obligations at promotion.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Twenty minutes, three questions — your answers decide what we build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45336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When a critical CVE lands, what is your longest pole?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84248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Rebuild, regression run, or approval? If it's the rebuild, this pivot is wrong too — we'd rather learn that this week.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1576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70632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How do you decide today how much to retest a dependency bump?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54680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“Run everything, it's fast” = no market. “Run everything, it takes three weeks” = this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Do you keep per-test coverage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325112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Determines whether “run these 37 tests, named” is a product for you or a fantasy — we ask before we build.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9853" y="1554480"/>
            <a:ext cx="3200400" cy="3429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5885" y="1764792"/>
            <a:ext cx="2697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151515"/>
                </a:solidFill>
                <a:latin typeface="Red Hat Text"/>
              </a:rPr>
              <a:t>Ready today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Working pipeline, verified end-to-end · fail-closed by design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51515"/>
                </a:solidFill>
                <a:latin typeface="Red Hat Text"/>
              </a:rPr>
              <a:t>Next, gated on your answers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Real Log4j numbers on a networked run · pilot on one of your services · Maven plugin hardening · Sigstore in 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74240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The tool sizes the risk. It doesn't abolish it </a:t>
            </a:r>
            <a:r>
              <a:rPr sz="1300" b="0">
                <a:solidFill>
                  <a:srgbClr val="3C3F42"/>
                </a:solidFill>
                <a:latin typeface="Red Hat Text"/>
              </a:rPr>
              <a:t>— the canary and the rollback never leave the plan, even at grade A. That honesty is printed on every report, on purpose.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Expressive">
  <a:themeElements>
    <a:clrScheme name="Simple Light">
      <a:dk1>
        <a:srgbClr val="000000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56E6E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